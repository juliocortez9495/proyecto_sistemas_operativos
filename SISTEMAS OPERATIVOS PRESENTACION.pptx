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DM Sans Bold" charset="1" panose="00000000000000000000"/>
      <p:regular r:id="rId15"/>
    </p:embeddedFont>
    <p:embeddedFont>
      <p:font typeface="League Spartan" charset="1" panose="00000800000000000000"/>
      <p:regular r:id="rId16"/>
    </p:embeddedFont>
    <p:embeddedFont>
      <p:font typeface="Poppins Bold" charset="1" panose="00000800000000000000"/>
      <p:regular r:id="rId17"/>
    </p:embeddedFont>
    <p:embeddedFont>
      <p:font typeface="Poppins Ultra-Bold" charset="1" panose="00000900000000000000"/>
      <p:regular r:id="rId18"/>
    </p:embeddedFont>
    <p:embeddedFont>
      <p:font typeface="DM Sans"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B0C5FF"/>
        </a:solidFill>
      </p:bgPr>
    </p:bg>
    <p:spTree>
      <p:nvGrpSpPr>
        <p:cNvPr id="1" name=""/>
        <p:cNvGrpSpPr/>
        <p:nvPr/>
      </p:nvGrpSpPr>
      <p:grpSpPr>
        <a:xfrm>
          <a:off x="0" y="0"/>
          <a:ext cx="0" cy="0"/>
          <a:chOff x="0" y="0"/>
          <a:chExt cx="0" cy="0"/>
        </a:xfrm>
      </p:grpSpPr>
      <p:sp>
        <p:nvSpPr>
          <p:cNvPr name="Freeform 2" id="2"/>
          <p:cNvSpPr/>
          <p:nvPr/>
        </p:nvSpPr>
        <p:spPr>
          <a:xfrm flipH="false" flipV="false" rot="0">
            <a:off x="10560112" y="-6875490"/>
            <a:ext cx="13398375" cy="12377222"/>
          </a:xfrm>
          <a:custGeom>
            <a:avLst/>
            <a:gdLst/>
            <a:ahLst/>
            <a:cxnLst/>
            <a:rect r="r" b="b" t="t" l="l"/>
            <a:pathLst>
              <a:path h="12377222" w="13398375">
                <a:moveTo>
                  <a:pt x="0" y="0"/>
                </a:moveTo>
                <a:lnTo>
                  <a:pt x="13398376" y="0"/>
                </a:lnTo>
                <a:lnTo>
                  <a:pt x="13398376" y="12377222"/>
                </a:lnTo>
                <a:lnTo>
                  <a:pt x="0" y="12377222"/>
                </a:lnTo>
                <a:lnTo>
                  <a:pt x="0" y="0"/>
                </a:lnTo>
                <a:close/>
              </a:path>
            </a:pathLst>
          </a:custGeom>
          <a:blipFill>
            <a:blip r:embed="rId2">
              <a:alphaModFix amt="43999"/>
              <a:extLst>
                <a:ext uri="{96DAC541-7B7A-43D3-8B79-37D633B846F1}">
                  <asvg:svgBlip xmlns:asvg="http://schemas.microsoft.com/office/drawing/2016/SVG/main" r:embed="rId3"/>
                </a:ext>
              </a:extLst>
            </a:blip>
            <a:stretch>
              <a:fillRect l="0" t="-6179" r="-211836" b="0"/>
            </a:stretch>
          </a:blipFill>
        </p:spPr>
      </p:sp>
      <p:sp>
        <p:nvSpPr>
          <p:cNvPr name="Freeform 3" id="3"/>
          <p:cNvSpPr/>
          <p:nvPr/>
        </p:nvSpPr>
        <p:spPr>
          <a:xfrm flipH="false" flipV="false" rot="0">
            <a:off x="10560112" y="267136"/>
            <a:ext cx="7726011" cy="9752729"/>
          </a:xfrm>
          <a:custGeom>
            <a:avLst/>
            <a:gdLst/>
            <a:ahLst/>
            <a:cxnLst/>
            <a:rect r="r" b="b" t="t" l="l"/>
            <a:pathLst>
              <a:path h="9752729" w="7726011">
                <a:moveTo>
                  <a:pt x="0" y="0"/>
                </a:moveTo>
                <a:lnTo>
                  <a:pt x="7726011" y="0"/>
                </a:lnTo>
                <a:lnTo>
                  <a:pt x="7726011" y="9752728"/>
                </a:lnTo>
                <a:lnTo>
                  <a:pt x="0" y="97527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836336" y="410341"/>
            <a:ext cx="12966095" cy="1676466"/>
          </a:xfrm>
          <a:prstGeom prst="rect">
            <a:avLst/>
          </a:prstGeom>
        </p:spPr>
        <p:txBody>
          <a:bodyPr anchor="t" rtlCol="false" tIns="0" lIns="0" bIns="0" rIns="0">
            <a:spAutoFit/>
          </a:bodyPr>
          <a:lstStyle/>
          <a:p>
            <a:pPr algn="l" marL="0" indent="0" lvl="0">
              <a:lnSpc>
                <a:spcPts val="6821"/>
              </a:lnSpc>
              <a:spcBef>
                <a:spcPct val="0"/>
              </a:spcBef>
            </a:pPr>
            <a:r>
              <a:rPr lang="en-US" b="true" sz="4872" spc="102">
                <a:solidFill>
                  <a:srgbClr val="05066D"/>
                </a:solidFill>
                <a:latin typeface="DM Sans Bold"/>
                <a:ea typeface="DM Sans Bold"/>
                <a:cs typeface="DM Sans Bold"/>
                <a:sym typeface="DM Sans Bold"/>
              </a:rPr>
              <a:t>IM</a:t>
            </a:r>
            <a:r>
              <a:rPr lang="en-US" b="true" sz="4872" spc="102" u="none">
                <a:solidFill>
                  <a:srgbClr val="05066D"/>
                </a:solidFill>
                <a:latin typeface="DM Sans Bold"/>
                <a:ea typeface="DM Sans Bold"/>
                <a:cs typeface="DM Sans Bold"/>
                <a:sym typeface="DM Sans Bold"/>
              </a:rPr>
              <a:t>PLEMENTACIÓN DE INFRAESTRUCTURA DE ALTA DISPONIBILIDAD (IIS + DC)</a:t>
            </a:r>
          </a:p>
        </p:txBody>
      </p:sp>
      <p:sp>
        <p:nvSpPr>
          <p:cNvPr name="Freeform 5" id="5"/>
          <p:cNvSpPr/>
          <p:nvPr/>
        </p:nvSpPr>
        <p:spPr>
          <a:xfrm flipH="true" flipV="false" rot="0">
            <a:off x="-1877" y="5501732"/>
            <a:ext cx="18288000" cy="6906869"/>
          </a:xfrm>
          <a:custGeom>
            <a:avLst/>
            <a:gdLst/>
            <a:ahLst/>
            <a:cxnLst/>
            <a:rect r="r" b="b" t="t" l="l"/>
            <a:pathLst>
              <a:path h="6906869" w="18288000">
                <a:moveTo>
                  <a:pt x="18288000" y="0"/>
                </a:moveTo>
                <a:lnTo>
                  <a:pt x="0" y="0"/>
                </a:lnTo>
                <a:lnTo>
                  <a:pt x="0" y="6906869"/>
                </a:lnTo>
                <a:lnTo>
                  <a:pt x="18288000" y="6906869"/>
                </a:lnTo>
                <a:lnTo>
                  <a:pt x="182880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1687" y="76028"/>
            <a:ext cx="1814649" cy="2430817"/>
          </a:xfrm>
          <a:custGeom>
            <a:avLst/>
            <a:gdLst/>
            <a:ahLst/>
            <a:cxnLst/>
            <a:rect r="r" b="b" t="t" l="l"/>
            <a:pathLst>
              <a:path h="2430817" w="1814649">
                <a:moveTo>
                  <a:pt x="0" y="0"/>
                </a:moveTo>
                <a:lnTo>
                  <a:pt x="1814649" y="0"/>
                </a:lnTo>
                <a:lnTo>
                  <a:pt x="1814649" y="2430817"/>
                </a:lnTo>
                <a:lnTo>
                  <a:pt x="0" y="2430817"/>
                </a:lnTo>
                <a:lnTo>
                  <a:pt x="0" y="0"/>
                </a:lnTo>
                <a:close/>
              </a:path>
            </a:pathLst>
          </a:custGeom>
          <a:blipFill>
            <a:blip r:embed="rId8"/>
            <a:stretch>
              <a:fillRect l="0" t="0" r="0" b="0"/>
            </a:stretch>
          </a:blipFill>
        </p:spPr>
      </p:sp>
      <p:sp>
        <p:nvSpPr>
          <p:cNvPr name="TextBox 7" id="7"/>
          <p:cNvSpPr txBox="true"/>
          <p:nvPr/>
        </p:nvSpPr>
        <p:spPr>
          <a:xfrm rot="0">
            <a:off x="489821" y="3106954"/>
            <a:ext cx="10483978" cy="927802"/>
          </a:xfrm>
          <a:prstGeom prst="rect">
            <a:avLst/>
          </a:prstGeom>
        </p:spPr>
        <p:txBody>
          <a:bodyPr anchor="t" rtlCol="false" tIns="0" lIns="0" bIns="0" rIns="0">
            <a:spAutoFit/>
          </a:bodyPr>
          <a:lstStyle/>
          <a:p>
            <a:pPr algn="l" marL="0" indent="0" lvl="0">
              <a:lnSpc>
                <a:spcPts val="7661"/>
              </a:lnSpc>
              <a:spcBef>
                <a:spcPct val="0"/>
              </a:spcBef>
            </a:pPr>
            <a:r>
              <a:rPr lang="en-US" sz="5472" spc="114">
                <a:solidFill>
                  <a:srgbClr val="FFFFFF"/>
                </a:solidFill>
                <a:latin typeface="League Spartan"/>
                <a:ea typeface="League Spartan"/>
                <a:cs typeface="League Spartan"/>
                <a:sym typeface="League Spartan"/>
              </a:rPr>
              <a:t>PO</a:t>
            </a:r>
            <a:r>
              <a:rPr lang="en-US" sz="5472" spc="114" u="none">
                <a:solidFill>
                  <a:srgbClr val="FFFFFF"/>
                </a:solidFill>
                <a:latin typeface="League Spartan"/>
                <a:ea typeface="League Spartan"/>
                <a:cs typeface="League Spartan"/>
                <a:sym typeface="League Spartan"/>
              </a:rPr>
              <a:t>RTAL DE CITAS MÉDICAS</a:t>
            </a:r>
          </a:p>
        </p:txBody>
      </p:sp>
      <p:sp>
        <p:nvSpPr>
          <p:cNvPr name="TextBox 8" id="8"/>
          <p:cNvSpPr txBox="true"/>
          <p:nvPr/>
        </p:nvSpPr>
        <p:spPr>
          <a:xfrm rot="0">
            <a:off x="223675" y="4545329"/>
            <a:ext cx="10042712" cy="1676466"/>
          </a:xfrm>
          <a:prstGeom prst="rect">
            <a:avLst/>
          </a:prstGeom>
        </p:spPr>
        <p:txBody>
          <a:bodyPr anchor="t" rtlCol="false" tIns="0" lIns="0" bIns="0" rIns="0">
            <a:spAutoFit/>
          </a:bodyPr>
          <a:lstStyle/>
          <a:p>
            <a:pPr algn="l">
              <a:lnSpc>
                <a:spcPts val="6821"/>
              </a:lnSpc>
            </a:pPr>
            <a:r>
              <a:rPr lang="en-US" b="true" sz="4872" spc="102">
                <a:solidFill>
                  <a:srgbClr val="05066D"/>
                </a:solidFill>
                <a:latin typeface="DM Sans Bold"/>
                <a:ea typeface="DM Sans Bold"/>
                <a:cs typeface="DM Sans Bold"/>
                <a:sym typeface="DM Sans Bold"/>
              </a:rPr>
              <a:t>ESTUDIANTE: </a:t>
            </a:r>
          </a:p>
          <a:p>
            <a:pPr algn="l" marL="0" indent="0" lvl="0">
              <a:lnSpc>
                <a:spcPts val="6821"/>
              </a:lnSpc>
              <a:spcBef>
                <a:spcPct val="0"/>
              </a:spcBef>
            </a:pPr>
            <a:r>
              <a:rPr lang="en-US" b="true" sz="4872" spc="102">
                <a:solidFill>
                  <a:srgbClr val="05066D"/>
                </a:solidFill>
                <a:latin typeface="DM Sans Bold"/>
                <a:ea typeface="DM Sans Bold"/>
                <a:cs typeface="DM Sans Bold"/>
                <a:sym typeface="DM Sans Bold"/>
              </a:rPr>
              <a:t>JULIO SAMUEL CORTEZ MAMANI</a:t>
            </a:r>
          </a:p>
        </p:txBody>
      </p:sp>
      <p:sp>
        <p:nvSpPr>
          <p:cNvPr name="TextBox 9" id="9"/>
          <p:cNvSpPr txBox="true"/>
          <p:nvPr/>
        </p:nvSpPr>
        <p:spPr>
          <a:xfrm rot="0">
            <a:off x="223675" y="8343398"/>
            <a:ext cx="12966095" cy="1676466"/>
          </a:xfrm>
          <a:prstGeom prst="rect">
            <a:avLst/>
          </a:prstGeom>
        </p:spPr>
        <p:txBody>
          <a:bodyPr anchor="t" rtlCol="false" tIns="0" lIns="0" bIns="0" rIns="0">
            <a:spAutoFit/>
          </a:bodyPr>
          <a:lstStyle/>
          <a:p>
            <a:pPr algn="l">
              <a:lnSpc>
                <a:spcPts val="6821"/>
              </a:lnSpc>
            </a:pPr>
            <a:r>
              <a:rPr lang="en-US" b="true" sz="4872" spc="102">
                <a:solidFill>
                  <a:srgbClr val="FFFFFF"/>
                </a:solidFill>
                <a:latin typeface="DM Sans Bold"/>
                <a:ea typeface="DM Sans Bold"/>
                <a:cs typeface="DM Sans Bold"/>
                <a:sym typeface="DM Sans Bold"/>
              </a:rPr>
              <a:t>DOCENTE: </a:t>
            </a:r>
          </a:p>
          <a:p>
            <a:pPr algn="l" marL="0" indent="0" lvl="0">
              <a:lnSpc>
                <a:spcPts val="6821"/>
              </a:lnSpc>
              <a:spcBef>
                <a:spcPct val="0"/>
              </a:spcBef>
            </a:pPr>
            <a:r>
              <a:rPr lang="en-US" b="true" sz="4872" spc="102">
                <a:solidFill>
                  <a:srgbClr val="FFFFFF"/>
                </a:solidFill>
                <a:latin typeface="DM Sans Bold"/>
                <a:ea typeface="DM Sans Bold"/>
                <a:cs typeface="DM Sans Bold"/>
                <a:sym typeface="DM Sans Bold"/>
              </a:rPr>
              <a:t>DR. RENZO ALBERTO TACO COAYLA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AF8"/>
        </a:solidFill>
      </p:bgPr>
    </p:bg>
    <p:spTree>
      <p:nvGrpSpPr>
        <p:cNvPr id="1" name=""/>
        <p:cNvGrpSpPr/>
        <p:nvPr/>
      </p:nvGrpSpPr>
      <p:grpSpPr>
        <a:xfrm>
          <a:off x="0" y="0"/>
          <a:ext cx="0" cy="0"/>
          <a:chOff x="0" y="0"/>
          <a:chExt cx="0" cy="0"/>
        </a:xfrm>
      </p:grpSpPr>
      <p:sp>
        <p:nvSpPr>
          <p:cNvPr name="Freeform 2" id="2"/>
          <p:cNvSpPr/>
          <p:nvPr/>
        </p:nvSpPr>
        <p:spPr>
          <a:xfrm flipH="false" flipV="false" rot="0">
            <a:off x="-956619" y="-1328042"/>
            <a:ext cx="4991149" cy="7541571"/>
          </a:xfrm>
          <a:custGeom>
            <a:avLst/>
            <a:gdLst/>
            <a:ahLst/>
            <a:cxnLst/>
            <a:rect r="r" b="b" t="t" l="l"/>
            <a:pathLst>
              <a:path h="7541571" w="4991149">
                <a:moveTo>
                  <a:pt x="0" y="0"/>
                </a:moveTo>
                <a:lnTo>
                  <a:pt x="4991149" y="0"/>
                </a:lnTo>
                <a:lnTo>
                  <a:pt x="4991149" y="7541571"/>
                </a:lnTo>
                <a:lnTo>
                  <a:pt x="0" y="7541571"/>
                </a:lnTo>
                <a:lnTo>
                  <a:pt x="0" y="0"/>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97276" y="444877"/>
            <a:ext cx="5352917" cy="4447381"/>
          </a:xfrm>
          <a:custGeom>
            <a:avLst/>
            <a:gdLst/>
            <a:ahLst/>
            <a:cxnLst/>
            <a:rect r="r" b="b" t="t" l="l"/>
            <a:pathLst>
              <a:path h="4447381" w="5352917">
                <a:moveTo>
                  <a:pt x="0" y="0"/>
                </a:moveTo>
                <a:lnTo>
                  <a:pt x="5352916" y="0"/>
                </a:lnTo>
                <a:lnTo>
                  <a:pt x="5352916" y="4447382"/>
                </a:lnTo>
                <a:lnTo>
                  <a:pt x="0" y="44473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60303" y="4437035"/>
            <a:ext cx="2811895" cy="2638048"/>
          </a:xfrm>
          <a:prstGeom prst="rect">
            <a:avLst/>
          </a:prstGeom>
        </p:spPr>
        <p:txBody>
          <a:bodyPr anchor="t" rtlCol="false" tIns="0" lIns="0" bIns="0" rIns="0">
            <a:spAutoFit/>
          </a:bodyPr>
          <a:lstStyle/>
          <a:p>
            <a:pPr algn="ctr">
              <a:lnSpc>
                <a:spcPts val="20495"/>
              </a:lnSpc>
            </a:pPr>
            <a:r>
              <a:rPr lang="en-US" sz="14639" b="true">
                <a:solidFill>
                  <a:srgbClr val="05066D"/>
                </a:solidFill>
                <a:latin typeface="Poppins Bold"/>
                <a:ea typeface="Poppins Bold"/>
                <a:cs typeface="Poppins Bold"/>
                <a:sym typeface="Poppins Bold"/>
              </a:rPr>
              <a:t>1</a:t>
            </a:r>
          </a:p>
        </p:txBody>
      </p:sp>
      <p:sp>
        <p:nvSpPr>
          <p:cNvPr name="TextBox 5" id="5"/>
          <p:cNvSpPr txBox="true"/>
          <p:nvPr/>
        </p:nvSpPr>
        <p:spPr>
          <a:xfrm rot="0">
            <a:off x="1760303" y="6724489"/>
            <a:ext cx="2811895" cy="1617146"/>
          </a:xfrm>
          <a:prstGeom prst="rect">
            <a:avLst/>
          </a:prstGeom>
        </p:spPr>
        <p:txBody>
          <a:bodyPr anchor="t" rtlCol="false" tIns="0" lIns="0" bIns="0" rIns="0">
            <a:spAutoFit/>
          </a:bodyPr>
          <a:lstStyle/>
          <a:p>
            <a:pPr algn="ctr">
              <a:lnSpc>
                <a:spcPts val="3265"/>
              </a:lnSpc>
            </a:pPr>
            <a:r>
              <a:rPr lang="en-US" sz="2332" b="true">
                <a:solidFill>
                  <a:srgbClr val="000000"/>
                </a:solidFill>
                <a:latin typeface="DM Sans Bold"/>
                <a:ea typeface="DM Sans Bold"/>
                <a:cs typeface="DM Sans Bold"/>
                <a:sym typeface="DM Sans Bold"/>
              </a:rPr>
              <a:t>Colapso del servidor Web por la alta demanda de citas.</a:t>
            </a:r>
          </a:p>
        </p:txBody>
      </p:sp>
      <p:sp>
        <p:nvSpPr>
          <p:cNvPr name="TextBox 6" id="6"/>
          <p:cNvSpPr txBox="true"/>
          <p:nvPr/>
        </p:nvSpPr>
        <p:spPr>
          <a:xfrm rot="0">
            <a:off x="5745123" y="4482684"/>
            <a:ext cx="2811895" cy="2638048"/>
          </a:xfrm>
          <a:prstGeom prst="rect">
            <a:avLst/>
          </a:prstGeom>
        </p:spPr>
        <p:txBody>
          <a:bodyPr anchor="t" rtlCol="false" tIns="0" lIns="0" bIns="0" rIns="0">
            <a:spAutoFit/>
          </a:bodyPr>
          <a:lstStyle/>
          <a:p>
            <a:pPr algn="ctr">
              <a:lnSpc>
                <a:spcPts val="20495"/>
              </a:lnSpc>
            </a:pPr>
            <a:r>
              <a:rPr lang="en-US" sz="14639" b="true">
                <a:solidFill>
                  <a:srgbClr val="05066D"/>
                </a:solidFill>
                <a:latin typeface="Poppins Bold"/>
                <a:ea typeface="Poppins Bold"/>
                <a:cs typeface="Poppins Bold"/>
                <a:sym typeface="Poppins Bold"/>
              </a:rPr>
              <a:t>2</a:t>
            </a:r>
          </a:p>
        </p:txBody>
      </p:sp>
      <p:sp>
        <p:nvSpPr>
          <p:cNvPr name="TextBox 7" id="7"/>
          <p:cNvSpPr txBox="true"/>
          <p:nvPr/>
        </p:nvSpPr>
        <p:spPr>
          <a:xfrm rot="0">
            <a:off x="9730982" y="4482684"/>
            <a:ext cx="2811895" cy="2638048"/>
          </a:xfrm>
          <a:prstGeom prst="rect">
            <a:avLst/>
          </a:prstGeom>
        </p:spPr>
        <p:txBody>
          <a:bodyPr anchor="t" rtlCol="false" tIns="0" lIns="0" bIns="0" rIns="0">
            <a:spAutoFit/>
          </a:bodyPr>
          <a:lstStyle/>
          <a:p>
            <a:pPr algn="ctr">
              <a:lnSpc>
                <a:spcPts val="20495"/>
              </a:lnSpc>
            </a:pPr>
            <a:r>
              <a:rPr lang="en-US" sz="14639" b="true">
                <a:solidFill>
                  <a:srgbClr val="05066D"/>
                </a:solidFill>
                <a:latin typeface="Poppins Bold"/>
                <a:ea typeface="Poppins Bold"/>
                <a:cs typeface="Poppins Bold"/>
                <a:sym typeface="Poppins Bold"/>
              </a:rPr>
              <a:t>3</a:t>
            </a:r>
          </a:p>
        </p:txBody>
      </p:sp>
      <p:sp>
        <p:nvSpPr>
          <p:cNvPr name="TextBox 8" id="8"/>
          <p:cNvSpPr txBox="true"/>
          <p:nvPr/>
        </p:nvSpPr>
        <p:spPr>
          <a:xfrm rot="0">
            <a:off x="13715802" y="4437035"/>
            <a:ext cx="2811895" cy="2638048"/>
          </a:xfrm>
          <a:prstGeom prst="rect">
            <a:avLst/>
          </a:prstGeom>
        </p:spPr>
        <p:txBody>
          <a:bodyPr anchor="t" rtlCol="false" tIns="0" lIns="0" bIns="0" rIns="0">
            <a:spAutoFit/>
          </a:bodyPr>
          <a:lstStyle/>
          <a:p>
            <a:pPr algn="ctr">
              <a:lnSpc>
                <a:spcPts val="20495"/>
              </a:lnSpc>
            </a:pPr>
            <a:r>
              <a:rPr lang="en-US" sz="14639" b="true">
                <a:solidFill>
                  <a:srgbClr val="05066D"/>
                </a:solidFill>
                <a:latin typeface="Poppins Bold"/>
                <a:ea typeface="Poppins Bold"/>
                <a:cs typeface="Poppins Bold"/>
                <a:sym typeface="Poppins Bold"/>
              </a:rPr>
              <a:t>4</a:t>
            </a:r>
          </a:p>
        </p:txBody>
      </p:sp>
      <p:sp>
        <p:nvSpPr>
          <p:cNvPr name="TextBox 9" id="9"/>
          <p:cNvSpPr txBox="true"/>
          <p:nvPr/>
        </p:nvSpPr>
        <p:spPr>
          <a:xfrm rot="0">
            <a:off x="3792581" y="1833074"/>
            <a:ext cx="9528873" cy="1566213"/>
          </a:xfrm>
          <a:prstGeom prst="rect">
            <a:avLst/>
          </a:prstGeom>
        </p:spPr>
        <p:txBody>
          <a:bodyPr anchor="t" rtlCol="false" tIns="0" lIns="0" bIns="0" rIns="0">
            <a:spAutoFit/>
          </a:bodyPr>
          <a:lstStyle/>
          <a:p>
            <a:pPr algn="l" marL="0" indent="0" lvl="0">
              <a:lnSpc>
                <a:spcPts val="11749"/>
              </a:lnSpc>
              <a:spcBef>
                <a:spcPct val="0"/>
              </a:spcBef>
            </a:pPr>
            <a:r>
              <a:rPr lang="en-US" b="true" sz="9630">
                <a:solidFill>
                  <a:srgbClr val="05066D"/>
                </a:solidFill>
                <a:latin typeface="Poppins Ultra-Bold"/>
                <a:ea typeface="Poppins Ultra-Bold"/>
                <a:cs typeface="Poppins Ultra-Bold"/>
                <a:sym typeface="Poppins Ultra-Bold"/>
              </a:rPr>
              <a:t>Problematicas</a:t>
            </a:r>
          </a:p>
        </p:txBody>
      </p:sp>
      <p:sp>
        <p:nvSpPr>
          <p:cNvPr name="TextBox 10" id="10"/>
          <p:cNvSpPr txBox="true"/>
          <p:nvPr/>
        </p:nvSpPr>
        <p:spPr>
          <a:xfrm rot="0">
            <a:off x="5719373" y="6724489"/>
            <a:ext cx="2811895" cy="2026721"/>
          </a:xfrm>
          <a:prstGeom prst="rect">
            <a:avLst/>
          </a:prstGeom>
        </p:spPr>
        <p:txBody>
          <a:bodyPr anchor="t" rtlCol="false" tIns="0" lIns="0" bIns="0" rIns="0">
            <a:spAutoFit/>
          </a:bodyPr>
          <a:lstStyle/>
          <a:p>
            <a:pPr algn="ctr">
              <a:lnSpc>
                <a:spcPts val="3265"/>
              </a:lnSpc>
            </a:pPr>
            <a:r>
              <a:rPr lang="en-US" sz="2332" b="true">
                <a:solidFill>
                  <a:srgbClr val="000000"/>
                </a:solidFill>
                <a:latin typeface="DM Sans Bold"/>
                <a:ea typeface="DM Sans Bold"/>
                <a:cs typeface="DM Sans Bold"/>
                <a:sym typeface="DM Sans Bold"/>
              </a:rPr>
              <a:t>Obliga a los frozosamente a los pacientes realizar filas presenciales de madrugada</a:t>
            </a:r>
          </a:p>
        </p:txBody>
      </p:sp>
      <p:sp>
        <p:nvSpPr>
          <p:cNvPr name="TextBox 11" id="11"/>
          <p:cNvSpPr txBox="true"/>
          <p:nvPr/>
        </p:nvSpPr>
        <p:spPr>
          <a:xfrm rot="0">
            <a:off x="9885381" y="6724489"/>
            <a:ext cx="2811895" cy="1617146"/>
          </a:xfrm>
          <a:prstGeom prst="rect">
            <a:avLst/>
          </a:prstGeom>
        </p:spPr>
        <p:txBody>
          <a:bodyPr anchor="t" rtlCol="false" tIns="0" lIns="0" bIns="0" rIns="0">
            <a:spAutoFit/>
          </a:bodyPr>
          <a:lstStyle/>
          <a:p>
            <a:pPr algn="ctr">
              <a:lnSpc>
                <a:spcPts val="3265"/>
              </a:lnSpc>
            </a:pPr>
            <a:r>
              <a:rPr lang="en-US" sz="2332" b="true">
                <a:solidFill>
                  <a:srgbClr val="000000"/>
                </a:solidFill>
                <a:latin typeface="DM Sans Bold"/>
                <a:ea typeface="DM Sans Bold"/>
                <a:cs typeface="DM Sans Bold"/>
                <a:sym typeface="DM Sans Bold"/>
              </a:rPr>
              <a:t>Los pacientes no pueden acceder al comprobante de su cita</a:t>
            </a:r>
          </a:p>
        </p:txBody>
      </p:sp>
      <p:sp>
        <p:nvSpPr>
          <p:cNvPr name="TextBox 12" id="12"/>
          <p:cNvSpPr txBox="true"/>
          <p:nvPr/>
        </p:nvSpPr>
        <p:spPr>
          <a:xfrm rot="0">
            <a:off x="13844451" y="6724489"/>
            <a:ext cx="2811895" cy="797996"/>
          </a:xfrm>
          <a:prstGeom prst="rect">
            <a:avLst/>
          </a:prstGeom>
        </p:spPr>
        <p:txBody>
          <a:bodyPr anchor="t" rtlCol="false" tIns="0" lIns="0" bIns="0" rIns="0">
            <a:spAutoFit/>
          </a:bodyPr>
          <a:lstStyle/>
          <a:p>
            <a:pPr algn="ctr">
              <a:lnSpc>
                <a:spcPts val="3265"/>
              </a:lnSpc>
            </a:pPr>
            <a:r>
              <a:rPr lang="en-US" sz="2332" b="true">
                <a:solidFill>
                  <a:srgbClr val="000000"/>
                </a:solidFill>
                <a:latin typeface="DM Sans Bold"/>
                <a:ea typeface="DM Sans Bold"/>
                <a:cs typeface="DM Sans Bold"/>
                <a:sym typeface="DM Sans Bold"/>
              </a:rPr>
              <a:t>¿Que dicen los pacientes?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AF8"/>
        </a:solidFill>
      </p:bgPr>
    </p:bg>
    <p:spTree>
      <p:nvGrpSpPr>
        <p:cNvPr id="1" name=""/>
        <p:cNvGrpSpPr/>
        <p:nvPr/>
      </p:nvGrpSpPr>
      <p:grpSpPr>
        <a:xfrm>
          <a:off x="0" y="0"/>
          <a:ext cx="0" cy="0"/>
          <a:chOff x="0" y="0"/>
          <a:chExt cx="0" cy="0"/>
        </a:xfrm>
      </p:grpSpPr>
      <p:sp>
        <p:nvSpPr>
          <p:cNvPr name="Freeform 2" id="2"/>
          <p:cNvSpPr/>
          <p:nvPr/>
        </p:nvSpPr>
        <p:spPr>
          <a:xfrm flipH="false" flipV="false" rot="0">
            <a:off x="-1930093" y="5625717"/>
            <a:ext cx="22473900" cy="7069063"/>
          </a:xfrm>
          <a:custGeom>
            <a:avLst/>
            <a:gdLst/>
            <a:ahLst/>
            <a:cxnLst/>
            <a:rect r="r" b="b" t="t" l="l"/>
            <a:pathLst>
              <a:path h="7069063" w="22473900">
                <a:moveTo>
                  <a:pt x="0" y="0"/>
                </a:moveTo>
                <a:lnTo>
                  <a:pt x="22473899" y="0"/>
                </a:lnTo>
                <a:lnTo>
                  <a:pt x="22473899" y="7069063"/>
                </a:lnTo>
                <a:lnTo>
                  <a:pt x="0" y="7069063"/>
                </a:lnTo>
                <a:lnTo>
                  <a:pt x="0" y="0"/>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39527" y="3411023"/>
            <a:ext cx="1953145" cy="195314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p:spPr>
        </p:sp>
        <p:sp>
          <p:nvSpPr>
            <p:cNvPr name="TextBox 5" id="5"/>
            <p:cNvSpPr txBox="true"/>
            <p:nvPr/>
          </p:nvSpPr>
          <p:spPr>
            <a:xfrm>
              <a:off x="76200" y="-133350"/>
              <a:ext cx="660400" cy="869950"/>
            </a:xfrm>
            <a:prstGeom prst="rect">
              <a:avLst/>
            </a:prstGeom>
          </p:spPr>
          <p:txBody>
            <a:bodyPr anchor="ctr" rtlCol="false" tIns="50800" lIns="50800" bIns="50800" rIns="50800"/>
            <a:lstStyle/>
            <a:p>
              <a:pPr algn="ctr" marL="0" indent="0" lvl="0">
                <a:lnSpc>
                  <a:spcPts val="10217"/>
                </a:lnSpc>
                <a:spcBef>
                  <a:spcPct val="0"/>
                </a:spcBef>
              </a:pPr>
            </a:p>
          </p:txBody>
        </p:sp>
      </p:grpSp>
      <p:sp>
        <p:nvSpPr>
          <p:cNvPr name="Freeform 6" id="6"/>
          <p:cNvSpPr/>
          <p:nvPr/>
        </p:nvSpPr>
        <p:spPr>
          <a:xfrm flipH="false" flipV="false" rot="0">
            <a:off x="1834756" y="3847914"/>
            <a:ext cx="1362686" cy="1079361"/>
          </a:xfrm>
          <a:custGeom>
            <a:avLst/>
            <a:gdLst/>
            <a:ahLst/>
            <a:cxnLst/>
            <a:rect r="r" b="b" t="t" l="l"/>
            <a:pathLst>
              <a:path h="1079361" w="1362686">
                <a:moveTo>
                  <a:pt x="0" y="0"/>
                </a:moveTo>
                <a:lnTo>
                  <a:pt x="1362686" y="0"/>
                </a:lnTo>
                <a:lnTo>
                  <a:pt x="1362686" y="1079362"/>
                </a:lnTo>
                <a:lnTo>
                  <a:pt x="0" y="1079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539527" y="5786120"/>
            <a:ext cx="1953145" cy="195314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p:spPr>
        </p:sp>
        <p:sp>
          <p:nvSpPr>
            <p:cNvPr name="TextBox 9" id="9"/>
            <p:cNvSpPr txBox="true"/>
            <p:nvPr/>
          </p:nvSpPr>
          <p:spPr>
            <a:xfrm>
              <a:off x="76200" y="-133350"/>
              <a:ext cx="660400" cy="869950"/>
            </a:xfrm>
            <a:prstGeom prst="rect">
              <a:avLst/>
            </a:prstGeom>
          </p:spPr>
          <p:txBody>
            <a:bodyPr anchor="ctr" rtlCol="false" tIns="50800" lIns="50800" bIns="50800" rIns="50800"/>
            <a:lstStyle/>
            <a:p>
              <a:pPr algn="ctr" marL="0" indent="0" lvl="0">
                <a:lnSpc>
                  <a:spcPts val="10217"/>
                </a:lnSpc>
                <a:spcBef>
                  <a:spcPct val="0"/>
                </a:spcBef>
              </a:pPr>
            </a:p>
          </p:txBody>
        </p:sp>
      </p:grpSp>
      <p:sp>
        <p:nvSpPr>
          <p:cNvPr name="Freeform 10" id="10"/>
          <p:cNvSpPr/>
          <p:nvPr/>
        </p:nvSpPr>
        <p:spPr>
          <a:xfrm flipH="false" flipV="false" rot="0">
            <a:off x="2012219" y="6354767"/>
            <a:ext cx="1185223" cy="963487"/>
          </a:xfrm>
          <a:custGeom>
            <a:avLst/>
            <a:gdLst/>
            <a:ahLst/>
            <a:cxnLst/>
            <a:rect r="r" b="b" t="t" l="l"/>
            <a:pathLst>
              <a:path h="963487" w="1185223">
                <a:moveTo>
                  <a:pt x="0" y="0"/>
                </a:moveTo>
                <a:lnTo>
                  <a:pt x="1185223" y="0"/>
                </a:lnTo>
                <a:lnTo>
                  <a:pt x="1185223" y="963488"/>
                </a:lnTo>
                <a:lnTo>
                  <a:pt x="0" y="9634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028700" y="923925"/>
            <a:ext cx="16230600" cy="1571834"/>
          </a:xfrm>
          <a:prstGeom prst="rect">
            <a:avLst/>
          </a:prstGeom>
        </p:spPr>
        <p:txBody>
          <a:bodyPr anchor="t" rtlCol="false" tIns="0" lIns="0" bIns="0" rIns="0">
            <a:spAutoFit/>
          </a:bodyPr>
          <a:lstStyle/>
          <a:p>
            <a:pPr algn="l" marL="0" indent="0" lvl="0">
              <a:lnSpc>
                <a:spcPts val="11749"/>
              </a:lnSpc>
              <a:spcBef>
                <a:spcPct val="0"/>
              </a:spcBef>
            </a:pPr>
            <a:r>
              <a:rPr lang="en-US" b="true" sz="9630">
                <a:solidFill>
                  <a:srgbClr val="05066D"/>
                </a:solidFill>
                <a:latin typeface="Poppins Ultra-Bold"/>
                <a:ea typeface="Poppins Ultra-Bold"/>
                <a:cs typeface="Poppins Ultra-Bold"/>
                <a:sym typeface="Poppins Ultra-Bold"/>
              </a:rPr>
              <a:t>Beneficios Cuantificables</a:t>
            </a:r>
          </a:p>
        </p:txBody>
      </p:sp>
      <p:sp>
        <p:nvSpPr>
          <p:cNvPr name="TextBox 12" id="12"/>
          <p:cNvSpPr txBox="true"/>
          <p:nvPr/>
        </p:nvSpPr>
        <p:spPr>
          <a:xfrm rot="0">
            <a:off x="3757319" y="3800289"/>
            <a:ext cx="11463413" cy="430792"/>
          </a:xfrm>
          <a:prstGeom prst="rect">
            <a:avLst/>
          </a:prstGeom>
        </p:spPr>
        <p:txBody>
          <a:bodyPr anchor="t" rtlCol="false" tIns="0" lIns="0" bIns="0" rIns="0">
            <a:spAutoFit/>
          </a:bodyPr>
          <a:lstStyle/>
          <a:p>
            <a:pPr algn="l">
              <a:lnSpc>
                <a:spcPts val="3563"/>
              </a:lnSpc>
              <a:spcBef>
                <a:spcPct val="0"/>
              </a:spcBef>
            </a:pPr>
            <a:r>
              <a:rPr lang="en-US" sz="2545">
                <a:solidFill>
                  <a:srgbClr val="000000"/>
                </a:solidFill>
                <a:latin typeface="DM Sans"/>
                <a:ea typeface="DM Sans"/>
                <a:cs typeface="DM Sans"/>
                <a:sym typeface="DM Sans"/>
              </a:rPr>
              <a:t>Reduci a gran medida las caidas del sistema en horas pico </a:t>
            </a:r>
          </a:p>
        </p:txBody>
      </p:sp>
      <p:sp>
        <p:nvSpPr>
          <p:cNvPr name="TextBox 13" id="13"/>
          <p:cNvSpPr txBox="true"/>
          <p:nvPr/>
        </p:nvSpPr>
        <p:spPr>
          <a:xfrm rot="0">
            <a:off x="3757319" y="7231547"/>
            <a:ext cx="11463413" cy="878615"/>
          </a:xfrm>
          <a:prstGeom prst="rect">
            <a:avLst/>
          </a:prstGeom>
        </p:spPr>
        <p:txBody>
          <a:bodyPr anchor="t" rtlCol="false" tIns="0" lIns="0" bIns="0" rIns="0">
            <a:spAutoFit/>
          </a:bodyPr>
          <a:lstStyle/>
          <a:p>
            <a:pPr algn="l">
              <a:lnSpc>
                <a:spcPts val="3563"/>
              </a:lnSpc>
              <a:spcBef>
                <a:spcPct val="0"/>
              </a:spcBef>
            </a:pPr>
            <a:r>
              <a:rPr lang="en-US" sz="2545">
                <a:solidFill>
                  <a:srgbClr val="000000"/>
                </a:solidFill>
                <a:latin typeface="DM Sans"/>
                <a:ea typeface="DM Sans"/>
                <a:cs typeface="DM Sans"/>
                <a:sym typeface="DM Sans"/>
              </a:rPr>
              <a:t>Aumentar la capacidad de carga del sistema, aumentando la cantidad de conexiones concurrrentes </a:t>
            </a:r>
          </a:p>
        </p:txBody>
      </p:sp>
      <p:sp>
        <p:nvSpPr>
          <p:cNvPr name="TextBox 14" id="14"/>
          <p:cNvSpPr txBox="true"/>
          <p:nvPr/>
        </p:nvSpPr>
        <p:spPr>
          <a:xfrm rot="0">
            <a:off x="3757319" y="3277564"/>
            <a:ext cx="4944970" cy="513014"/>
          </a:xfrm>
          <a:prstGeom prst="rect">
            <a:avLst/>
          </a:prstGeom>
        </p:spPr>
        <p:txBody>
          <a:bodyPr anchor="t" rtlCol="false" tIns="0" lIns="0" bIns="0" rIns="0">
            <a:spAutoFit/>
          </a:bodyPr>
          <a:lstStyle/>
          <a:p>
            <a:pPr algn="l">
              <a:lnSpc>
                <a:spcPts val="4273"/>
              </a:lnSpc>
              <a:spcBef>
                <a:spcPct val="0"/>
              </a:spcBef>
            </a:pPr>
            <a:r>
              <a:rPr lang="en-US" b="true" sz="3052">
                <a:solidFill>
                  <a:srgbClr val="337096"/>
                </a:solidFill>
                <a:latin typeface="DM Sans Bold"/>
                <a:ea typeface="DM Sans Bold"/>
                <a:cs typeface="DM Sans Bold"/>
                <a:sym typeface="DM Sans Bold"/>
              </a:rPr>
              <a:t>MEJORA GARANTIZADA </a:t>
            </a:r>
          </a:p>
        </p:txBody>
      </p:sp>
      <p:sp>
        <p:nvSpPr>
          <p:cNvPr name="TextBox 15" id="15"/>
          <p:cNvSpPr txBox="true"/>
          <p:nvPr/>
        </p:nvSpPr>
        <p:spPr>
          <a:xfrm rot="0">
            <a:off x="3757319" y="6705543"/>
            <a:ext cx="5138023" cy="516479"/>
          </a:xfrm>
          <a:prstGeom prst="rect">
            <a:avLst/>
          </a:prstGeom>
        </p:spPr>
        <p:txBody>
          <a:bodyPr anchor="t" rtlCol="false" tIns="0" lIns="0" bIns="0" rIns="0">
            <a:spAutoFit/>
          </a:bodyPr>
          <a:lstStyle/>
          <a:p>
            <a:pPr algn="l">
              <a:lnSpc>
                <a:spcPts val="4273"/>
              </a:lnSpc>
              <a:spcBef>
                <a:spcPct val="0"/>
              </a:spcBef>
            </a:pPr>
            <a:r>
              <a:rPr lang="en-US" b="true" sz="3052">
                <a:solidFill>
                  <a:srgbClr val="337096"/>
                </a:solidFill>
                <a:latin typeface="DM Sans Bold"/>
                <a:ea typeface="DM Sans Bold"/>
                <a:cs typeface="DM Sans Bold"/>
                <a:sym typeface="DM Sans Bold"/>
              </a:rPr>
              <a:t>CAPACIDAD DE CARGA</a:t>
            </a:r>
          </a:p>
        </p:txBody>
      </p:sp>
      <p:sp>
        <p:nvSpPr>
          <p:cNvPr name="TextBox 16" id="16"/>
          <p:cNvSpPr txBox="true"/>
          <p:nvPr/>
        </p:nvSpPr>
        <p:spPr>
          <a:xfrm rot="0">
            <a:off x="3757319" y="4870126"/>
            <a:ext cx="4944970" cy="513014"/>
          </a:xfrm>
          <a:prstGeom prst="rect">
            <a:avLst/>
          </a:prstGeom>
        </p:spPr>
        <p:txBody>
          <a:bodyPr anchor="t" rtlCol="false" tIns="0" lIns="0" bIns="0" rIns="0">
            <a:spAutoFit/>
          </a:bodyPr>
          <a:lstStyle/>
          <a:p>
            <a:pPr algn="l">
              <a:lnSpc>
                <a:spcPts val="4273"/>
              </a:lnSpc>
              <a:spcBef>
                <a:spcPct val="0"/>
              </a:spcBef>
            </a:pPr>
            <a:r>
              <a:rPr lang="en-US" b="true" sz="3052">
                <a:solidFill>
                  <a:srgbClr val="337096"/>
                </a:solidFill>
                <a:latin typeface="DM Sans Bold"/>
                <a:ea typeface="DM Sans Bold"/>
                <a:cs typeface="DM Sans Bold"/>
                <a:sym typeface="DM Sans Bold"/>
              </a:rPr>
              <a:t>TIEMPO </a:t>
            </a:r>
          </a:p>
        </p:txBody>
      </p:sp>
      <p:sp>
        <p:nvSpPr>
          <p:cNvPr name="TextBox 17" id="17"/>
          <p:cNvSpPr txBox="true"/>
          <p:nvPr/>
        </p:nvSpPr>
        <p:spPr>
          <a:xfrm rot="0">
            <a:off x="3757319" y="5553075"/>
            <a:ext cx="11463413" cy="430792"/>
          </a:xfrm>
          <a:prstGeom prst="rect">
            <a:avLst/>
          </a:prstGeom>
        </p:spPr>
        <p:txBody>
          <a:bodyPr anchor="t" rtlCol="false" tIns="0" lIns="0" bIns="0" rIns="0">
            <a:spAutoFit/>
          </a:bodyPr>
          <a:lstStyle/>
          <a:p>
            <a:pPr algn="l">
              <a:lnSpc>
                <a:spcPts val="3563"/>
              </a:lnSpc>
              <a:spcBef>
                <a:spcPct val="0"/>
              </a:spcBef>
            </a:pPr>
            <a:r>
              <a:rPr lang="en-US" sz="2545">
                <a:solidFill>
                  <a:srgbClr val="000000"/>
                </a:solidFill>
                <a:latin typeface="DM Sans"/>
                <a:ea typeface="DM Sans"/>
                <a:cs typeface="DM Sans"/>
                <a:sym typeface="DM Sans"/>
              </a:rPr>
              <a:t>Reducir el tiempo de espera tanto en el inisio de sesion como en la consulta.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0C5FF"/>
        </a:solidFill>
      </p:bgPr>
    </p:bg>
    <p:spTree>
      <p:nvGrpSpPr>
        <p:cNvPr id="1" name=""/>
        <p:cNvGrpSpPr/>
        <p:nvPr/>
      </p:nvGrpSpPr>
      <p:grpSpPr>
        <a:xfrm>
          <a:off x="0" y="0"/>
          <a:ext cx="0" cy="0"/>
          <a:chOff x="0" y="0"/>
          <a:chExt cx="0" cy="0"/>
        </a:xfrm>
      </p:grpSpPr>
      <p:sp>
        <p:nvSpPr>
          <p:cNvPr name="Freeform 2" id="2"/>
          <p:cNvSpPr/>
          <p:nvPr/>
        </p:nvSpPr>
        <p:spPr>
          <a:xfrm flipH="false" flipV="false" rot="0">
            <a:off x="12157667" y="650727"/>
            <a:ext cx="6985284" cy="9663852"/>
          </a:xfrm>
          <a:custGeom>
            <a:avLst/>
            <a:gdLst/>
            <a:ahLst/>
            <a:cxnLst/>
            <a:rect r="r" b="b" t="t" l="l"/>
            <a:pathLst>
              <a:path h="9663852" w="6985284">
                <a:moveTo>
                  <a:pt x="0" y="0"/>
                </a:moveTo>
                <a:lnTo>
                  <a:pt x="6985285" y="0"/>
                </a:lnTo>
                <a:lnTo>
                  <a:pt x="6985285" y="9663852"/>
                </a:lnTo>
                <a:lnTo>
                  <a:pt x="0" y="96638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177868" y="2285756"/>
            <a:ext cx="7956059" cy="1868396"/>
            <a:chOff x="0" y="0"/>
            <a:chExt cx="1268996" cy="298010"/>
          </a:xfrm>
        </p:grpSpPr>
        <p:sp>
          <p:nvSpPr>
            <p:cNvPr name="Freeform 4" id="4"/>
            <p:cNvSpPr/>
            <p:nvPr/>
          </p:nvSpPr>
          <p:spPr>
            <a:xfrm flipH="false" flipV="false" rot="0">
              <a:off x="0" y="0"/>
              <a:ext cx="1268996" cy="298010"/>
            </a:xfrm>
            <a:custGeom>
              <a:avLst/>
              <a:gdLst/>
              <a:ahLst/>
              <a:cxnLst/>
              <a:rect r="r" b="b" t="t" l="l"/>
              <a:pathLst>
                <a:path h="298010" w="1268996">
                  <a:moveTo>
                    <a:pt x="97308" y="0"/>
                  </a:moveTo>
                  <a:lnTo>
                    <a:pt x="1171687" y="0"/>
                  </a:lnTo>
                  <a:cubicBezTo>
                    <a:pt x="1197495" y="0"/>
                    <a:pt x="1222246" y="10252"/>
                    <a:pt x="1240495" y="28501"/>
                  </a:cubicBezTo>
                  <a:cubicBezTo>
                    <a:pt x="1258744" y="46750"/>
                    <a:pt x="1268996" y="71501"/>
                    <a:pt x="1268996" y="97308"/>
                  </a:cubicBezTo>
                  <a:lnTo>
                    <a:pt x="1268996" y="200702"/>
                  </a:lnTo>
                  <a:cubicBezTo>
                    <a:pt x="1268996" y="254444"/>
                    <a:pt x="1225429" y="298010"/>
                    <a:pt x="1171687" y="298010"/>
                  </a:cubicBezTo>
                  <a:lnTo>
                    <a:pt x="97308" y="298010"/>
                  </a:lnTo>
                  <a:cubicBezTo>
                    <a:pt x="43566" y="298010"/>
                    <a:pt x="0" y="254444"/>
                    <a:pt x="0" y="200702"/>
                  </a:cubicBezTo>
                  <a:lnTo>
                    <a:pt x="0" y="97308"/>
                  </a:lnTo>
                  <a:cubicBezTo>
                    <a:pt x="0" y="43566"/>
                    <a:pt x="43566" y="0"/>
                    <a:pt x="97308" y="0"/>
                  </a:cubicBezTo>
                  <a:close/>
                </a:path>
              </a:pathLst>
            </a:custGeom>
            <a:solidFill>
              <a:srgbClr val="FFFFFF"/>
            </a:solidFill>
            <a:ln cap="rnd">
              <a:noFill/>
              <a:prstDash val="solid"/>
              <a:round/>
            </a:ln>
          </p:spPr>
        </p:sp>
        <p:sp>
          <p:nvSpPr>
            <p:cNvPr name="TextBox 5" id="5"/>
            <p:cNvSpPr txBox="true"/>
            <p:nvPr/>
          </p:nvSpPr>
          <p:spPr>
            <a:xfrm>
              <a:off x="0" y="-209550"/>
              <a:ext cx="1268996" cy="507560"/>
            </a:xfrm>
            <a:prstGeom prst="rect">
              <a:avLst/>
            </a:prstGeom>
          </p:spPr>
          <p:txBody>
            <a:bodyPr anchor="ctr" rtlCol="false" tIns="50800" lIns="50800" bIns="50800" rIns="50800"/>
            <a:lstStyle/>
            <a:p>
              <a:pPr algn="ctr" marL="0" indent="0" lvl="0">
                <a:lnSpc>
                  <a:spcPts val="10217"/>
                </a:lnSpc>
                <a:spcBef>
                  <a:spcPct val="0"/>
                </a:spcBef>
              </a:pPr>
            </a:p>
          </p:txBody>
        </p:sp>
      </p:grpSp>
      <p:sp>
        <p:nvSpPr>
          <p:cNvPr name="TextBox 6" id="6"/>
          <p:cNvSpPr txBox="true"/>
          <p:nvPr/>
        </p:nvSpPr>
        <p:spPr>
          <a:xfrm rot="0">
            <a:off x="800161" y="192357"/>
            <a:ext cx="13405054" cy="1567911"/>
          </a:xfrm>
          <a:prstGeom prst="rect">
            <a:avLst/>
          </a:prstGeom>
        </p:spPr>
        <p:txBody>
          <a:bodyPr anchor="t" rtlCol="false" tIns="0" lIns="0" bIns="0" rIns="0">
            <a:spAutoFit/>
          </a:bodyPr>
          <a:lstStyle/>
          <a:p>
            <a:pPr algn="l" marL="0" indent="0" lvl="0">
              <a:lnSpc>
                <a:spcPts val="11749"/>
              </a:lnSpc>
              <a:spcBef>
                <a:spcPct val="0"/>
              </a:spcBef>
            </a:pPr>
            <a:r>
              <a:rPr lang="en-US" b="true" sz="9630">
                <a:solidFill>
                  <a:srgbClr val="05066D"/>
                </a:solidFill>
                <a:latin typeface="Poppins Ultra-Bold"/>
                <a:ea typeface="Poppins Ultra-Bold"/>
                <a:cs typeface="Poppins Ultra-Bold"/>
                <a:sym typeface="Poppins Ultra-Bold"/>
              </a:rPr>
              <a:t>Decis</a:t>
            </a:r>
            <a:r>
              <a:rPr lang="en-US" b="true" sz="9630" strike="noStrike" u="none">
                <a:solidFill>
                  <a:srgbClr val="05066D"/>
                </a:solidFill>
                <a:latin typeface="Poppins Ultra-Bold"/>
                <a:ea typeface="Poppins Ultra-Bold"/>
                <a:cs typeface="Poppins Ultra-Bold"/>
                <a:sym typeface="Poppins Ultra-Bold"/>
              </a:rPr>
              <a:t>io</a:t>
            </a:r>
            <a:r>
              <a:rPr lang="en-US" b="true" sz="9630" strike="noStrike" u="none">
                <a:solidFill>
                  <a:srgbClr val="05066D"/>
                </a:solidFill>
                <a:latin typeface="Poppins Ultra-Bold"/>
                <a:ea typeface="Poppins Ultra-Bold"/>
                <a:cs typeface="Poppins Ultra-Bold"/>
                <a:sym typeface="Poppins Ultra-Bold"/>
              </a:rPr>
              <a:t>nes Técn</a:t>
            </a:r>
            <a:r>
              <a:rPr lang="en-US" b="true" sz="9630" strike="noStrike" u="none">
                <a:solidFill>
                  <a:srgbClr val="05066D"/>
                </a:solidFill>
                <a:latin typeface="Poppins Ultra-Bold"/>
                <a:ea typeface="Poppins Ultra-Bold"/>
                <a:cs typeface="Poppins Ultra-Bold"/>
                <a:sym typeface="Poppins Ultra-Bold"/>
              </a:rPr>
              <a:t>i</a:t>
            </a:r>
            <a:r>
              <a:rPr lang="en-US" b="true" sz="9630" strike="noStrike" u="none">
                <a:solidFill>
                  <a:srgbClr val="05066D"/>
                </a:solidFill>
                <a:latin typeface="Poppins Ultra-Bold"/>
                <a:ea typeface="Poppins Ultra-Bold"/>
                <a:cs typeface="Poppins Ultra-Bold"/>
                <a:sym typeface="Poppins Ultra-Bold"/>
              </a:rPr>
              <a:t>c</a:t>
            </a:r>
            <a:r>
              <a:rPr lang="en-US" b="true" sz="9630" strike="noStrike" u="none">
                <a:solidFill>
                  <a:srgbClr val="05066D"/>
                </a:solidFill>
                <a:latin typeface="Poppins Ultra-Bold"/>
                <a:ea typeface="Poppins Ultra-Bold"/>
                <a:cs typeface="Poppins Ultra-Bold"/>
                <a:sym typeface="Poppins Ultra-Bold"/>
              </a:rPr>
              <a:t>as</a:t>
            </a:r>
          </a:p>
        </p:txBody>
      </p:sp>
      <p:sp>
        <p:nvSpPr>
          <p:cNvPr name="TextBox 7" id="7"/>
          <p:cNvSpPr txBox="true"/>
          <p:nvPr/>
        </p:nvSpPr>
        <p:spPr>
          <a:xfrm rot="0">
            <a:off x="4943874" y="2442737"/>
            <a:ext cx="6965373" cy="1325995"/>
          </a:xfrm>
          <a:prstGeom prst="rect">
            <a:avLst/>
          </a:prstGeom>
        </p:spPr>
        <p:txBody>
          <a:bodyPr anchor="t" rtlCol="false" tIns="0" lIns="0" bIns="0" rIns="0">
            <a:spAutoFit/>
          </a:bodyPr>
          <a:lstStyle/>
          <a:p>
            <a:pPr algn="just">
              <a:lnSpc>
                <a:spcPts val="3563"/>
              </a:lnSpc>
              <a:spcBef>
                <a:spcPct val="0"/>
              </a:spcBef>
            </a:pPr>
            <a:r>
              <a:rPr lang="en-US" sz="2545">
                <a:solidFill>
                  <a:srgbClr val="000000"/>
                </a:solidFill>
                <a:latin typeface="DM Sans"/>
                <a:ea typeface="DM Sans"/>
                <a:cs typeface="DM Sans"/>
                <a:sym typeface="DM Sans"/>
              </a:rPr>
              <a:t>Impl</a:t>
            </a:r>
            <a:r>
              <a:rPr lang="en-US" sz="2545">
                <a:solidFill>
                  <a:srgbClr val="000000"/>
                </a:solidFill>
                <a:latin typeface="DM Sans"/>
                <a:ea typeface="DM Sans"/>
                <a:cs typeface="DM Sans"/>
                <a:sym typeface="DM Sans"/>
              </a:rPr>
              <a:t>ementar una arquitectura de 3 servidores (2 Nodos Web IIS y 1 Controlador de Dominio / Base de Datos aislado)</a:t>
            </a:r>
          </a:p>
        </p:txBody>
      </p:sp>
      <p:sp>
        <p:nvSpPr>
          <p:cNvPr name="TextBox 8" id="8"/>
          <p:cNvSpPr txBox="true"/>
          <p:nvPr/>
        </p:nvSpPr>
        <p:spPr>
          <a:xfrm rot="0">
            <a:off x="2689436" y="2229860"/>
            <a:ext cx="1421591" cy="1618398"/>
          </a:xfrm>
          <a:prstGeom prst="rect">
            <a:avLst/>
          </a:prstGeom>
        </p:spPr>
        <p:txBody>
          <a:bodyPr anchor="t" rtlCol="false" tIns="0" lIns="0" bIns="0" rIns="0">
            <a:spAutoFit/>
          </a:bodyPr>
          <a:lstStyle/>
          <a:p>
            <a:pPr algn="l">
              <a:lnSpc>
                <a:spcPts val="13475"/>
              </a:lnSpc>
              <a:spcBef>
                <a:spcPct val="0"/>
              </a:spcBef>
            </a:pPr>
            <a:r>
              <a:rPr lang="en-US" b="true" sz="9625">
                <a:solidFill>
                  <a:srgbClr val="337096"/>
                </a:solidFill>
                <a:latin typeface="DM Sans Bold"/>
                <a:ea typeface="DM Sans Bold"/>
                <a:cs typeface="DM Sans Bold"/>
                <a:sym typeface="DM Sans Bold"/>
              </a:rPr>
              <a:t>01</a:t>
            </a:r>
          </a:p>
        </p:txBody>
      </p:sp>
      <p:grpSp>
        <p:nvGrpSpPr>
          <p:cNvPr name="Group 9" id="9"/>
          <p:cNvGrpSpPr/>
          <p:nvPr/>
        </p:nvGrpSpPr>
        <p:grpSpPr>
          <a:xfrm rot="0">
            <a:off x="-3845032" y="4620276"/>
            <a:ext cx="7956059" cy="1868396"/>
            <a:chOff x="0" y="0"/>
            <a:chExt cx="1268996" cy="298010"/>
          </a:xfrm>
        </p:grpSpPr>
        <p:sp>
          <p:nvSpPr>
            <p:cNvPr name="Freeform 10" id="10"/>
            <p:cNvSpPr/>
            <p:nvPr/>
          </p:nvSpPr>
          <p:spPr>
            <a:xfrm flipH="false" flipV="false" rot="0">
              <a:off x="0" y="0"/>
              <a:ext cx="1268996" cy="298010"/>
            </a:xfrm>
            <a:custGeom>
              <a:avLst/>
              <a:gdLst/>
              <a:ahLst/>
              <a:cxnLst/>
              <a:rect r="r" b="b" t="t" l="l"/>
              <a:pathLst>
                <a:path h="298010" w="1268996">
                  <a:moveTo>
                    <a:pt x="97308" y="0"/>
                  </a:moveTo>
                  <a:lnTo>
                    <a:pt x="1171687" y="0"/>
                  </a:lnTo>
                  <a:cubicBezTo>
                    <a:pt x="1197495" y="0"/>
                    <a:pt x="1222246" y="10252"/>
                    <a:pt x="1240495" y="28501"/>
                  </a:cubicBezTo>
                  <a:cubicBezTo>
                    <a:pt x="1258744" y="46750"/>
                    <a:pt x="1268996" y="71501"/>
                    <a:pt x="1268996" y="97308"/>
                  </a:cubicBezTo>
                  <a:lnTo>
                    <a:pt x="1268996" y="200702"/>
                  </a:lnTo>
                  <a:cubicBezTo>
                    <a:pt x="1268996" y="254444"/>
                    <a:pt x="1225429" y="298010"/>
                    <a:pt x="1171687" y="298010"/>
                  </a:cubicBezTo>
                  <a:lnTo>
                    <a:pt x="97308" y="298010"/>
                  </a:lnTo>
                  <a:cubicBezTo>
                    <a:pt x="43566" y="298010"/>
                    <a:pt x="0" y="254444"/>
                    <a:pt x="0" y="200702"/>
                  </a:cubicBezTo>
                  <a:lnTo>
                    <a:pt x="0" y="97308"/>
                  </a:lnTo>
                  <a:cubicBezTo>
                    <a:pt x="0" y="43566"/>
                    <a:pt x="43566" y="0"/>
                    <a:pt x="97308" y="0"/>
                  </a:cubicBezTo>
                  <a:close/>
                </a:path>
              </a:pathLst>
            </a:custGeom>
            <a:solidFill>
              <a:srgbClr val="FFFFFF"/>
            </a:solidFill>
            <a:ln cap="rnd">
              <a:noFill/>
              <a:prstDash val="solid"/>
              <a:round/>
            </a:ln>
          </p:spPr>
        </p:sp>
        <p:sp>
          <p:nvSpPr>
            <p:cNvPr name="TextBox 11" id="11"/>
            <p:cNvSpPr txBox="true"/>
            <p:nvPr/>
          </p:nvSpPr>
          <p:spPr>
            <a:xfrm>
              <a:off x="0" y="-209550"/>
              <a:ext cx="1268996" cy="507560"/>
            </a:xfrm>
            <a:prstGeom prst="rect">
              <a:avLst/>
            </a:prstGeom>
          </p:spPr>
          <p:txBody>
            <a:bodyPr anchor="ctr" rtlCol="false" tIns="50800" lIns="50800" bIns="50800" rIns="50800"/>
            <a:lstStyle/>
            <a:p>
              <a:pPr algn="ctr" marL="0" indent="0" lvl="0">
                <a:lnSpc>
                  <a:spcPts val="10217"/>
                </a:lnSpc>
                <a:spcBef>
                  <a:spcPct val="0"/>
                </a:spcBef>
              </a:pPr>
            </a:p>
          </p:txBody>
        </p:sp>
      </p:grpSp>
      <p:sp>
        <p:nvSpPr>
          <p:cNvPr name="TextBox 12" id="12"/>
          <p:cNvSpPr txBox="true"/>
          <p:nvPr/>
        </p:nvSpPr>
        <p:spPr>
          <a:xfrm rot="0">
            <a:off x="4489115" y="4643532"/>
            <a:ext cx="8833201" cy="1774259"/>
          </a:xfrm>
          <a:prstGeom prst="rect">
            <a:avLst/>
          </a:prstGeom>
        </p:spPr>
        <p:txBody>
          <a:bodyPr anchor="t" rtlCol="false" tIns="0" lIns="0" bIns="0" rIns="0">
            <a:spAutoFit/>
          </a:bodyPr>
          <a:lstStyle/>
          <a:p>
            <a:pPr algn="l">
              <a:lnSpc>
                <a:spcPts val="3563"/>
              </a:lnSpc>
              <a:spcBef>
                <a:spcPct val="0"/>
              </a:spcBef>
            </a:pPr>
            <a:r>
              <a:rPr lang="en-US" sz="2545">
                <a:solidFill>
                  <a:srgbClr val="000000"/>
                </a:solidFill>
                <a:latin typeface="DM Sans"/>
                <a:ea typeface="DM Sans"/>
                <a:cs typeface="DM Sans"/>
                <a:sym typeface="DM Sans"/>
              </a:rPr>
              <a:t>Ut</a:t>
            </a:r>
            <a:r>
              <a:rPr lang="en-US" sz="2545">
                <a:solidFill>
                  <a:srgbClr val="000000"/>
                </a:solidFill>
                <a:latin typeface="DM Sans"/>
                <a:ea typeface="DM Sans"/>
                <a:cs typeface="DM Sans"/>
                <a:sym typeface="DM Sans"/>
              </a:rPr>
              <a:t>ilizar Network Load Balancing (NLB) nativo de Windows Server mediante una IP Virtual</a:t>
            </a:r>
          </a:p>
          <a:p>
            <a:pPr algn="l">
              <a:lnSpc>
                <a:spcPts val="3563"/>
              </a:lnSpc>
              <a:spcBef>
                <a:spcPct val="0"/>
              </a:spcBef>
            </a:pPr>
          </a:p>
          <a:p>
            <a:pPr algn="l">
              <a:lnSpc>
                <a:spcPts val="3563"/>
              </a:lnSpc>
              <a:spcBef>
                <a:spcPct val="0"/>
              </a:spcBef>
            </a:pPr>
            <a:r>
              <a:rPr lang="en-US" sz="2545">
                <a:solidFill>
                  <a:srgbClr val="000000"/>
                </a:solidFill>
                <a:latin typeface="DM Sans"/>
                <a:ea typeface="DM Sans"/>
                <a:cs typeface="DM Sans"/>
                <a:sym typeface="DM Sans"/>
              </a:rPr>
              <a:t>Se evaluó usar DNS Round Robin</a:t>
            </a:r>
          </a:p>
        </p:txBody>
      </p:sp>
      <p:sp>
        <p:nvSpPr>
          <p:cNvPr name="TextBox 13" id="13"/>
          <p:cNvSpPr txBox="true"/>
          <p:nvPr/>
        </p:nvSpPr>
        <p:spPr>
          <a:xfrm rot="0">
            <a:off x="2022272" y="4564380"/>
            <a:ext cx="2088755" cy="1618398"/>
          </a:xfrm>
          <a:prstGeom prst="rect">
            <a:avLst/>
          </a:prstGeom>
        </p:spPr>
        <p:txBody>
          <a:bodyPr anchor="t" rtlCol="false" tIns="0" lIns="0" bIns="0" rIns="0">
            <a:spAutoFit/>
          </a:bodyPr>
          <a:lstStyle/>
          <a:p>
            <a:pPr algn="l">
              <a:lnSpc>
                <a:spcPts val="13475"/>
              </a:lnSpc>
              <a:spcBef>
                <a:spcPct val="0"/>
              </a:spcBef>
            </a:pPr>
            <a:r>
              <a:rPr lang="en-US" b="true" sz="9625">
                <a:solidFill>
                  <a:srgbClr val="337096"/>
                </a:solidFill>
                <a:latin typeface="DM Sans Bold"/>
                <a:ea typeface="DM Sans Bold"/>
                <a:cs typeface="DM Sans Bold"/>
                <a:sym typeface="DM Sans Bold"/>
              </a:rPr>
              <a:t>02</a:t>
            </a:r>
          </a:p>
        </p:txBody>
      </p:sp>
      <p:grpSp>
        <p:nvGrpSpPr>
          <p:cNvPr name="Group 14" id="14"/>
          <p:cNvGrpSpPr/>
          <p:nvPr/>
        </p:nvGrpSpPr>
        <p:grpSpPr>
          <a:xfrm rot="0">
            <a:off x="-1955757" y="7079222"/>
            <a:ext cx="7956059" cy="1868396"/>
            <a:chOff x="0" y="0"/>
            <a:chExt cx="1268996" cy="298010"/>
          </a:xfrm>
        </p:grpSpPr>
        <p:sp>
          <p:nvSpPr>
            <p:cNvPr name="Freeform 15" id="15"/>
            <p:cNvSpPr/>
            <p:nvPr/>
          </p:nvSpPr>
          <p:spPr>
            <a:xfrm flipH="false" flipV="false" rot="0">
              <a:off x="0" y="0"/>
              <a:ext cx="1268996" cy="298010"/>
            </a:xfrm>
            <a:custGeom>
              <a:avLst/>
              <a:gdLst/>
              <a:ahLst/>
              <a:cxnLst/>
              <a:rect r="r" b="b" t="t" l="l"/>
              <a:pathLst>
                <a:path h="298010" w="1268996">
                  <a:moveTo>
                    <a:pt x="97308" y="0"/>
                  </a:moveTo>
                  <a:lnTo>
                    <a:pt x="1171687" y="0"/>
                  </a:lnTo>
                  <a:cubicBezTo>
                    <a:pt x="1197495" y="0"/>
                    <a:pt x="1222246" y="10252"/>
                    <a:pt x="1240495" y="28501"/>
                  </a:cubicBezTo>
                  <a:cubicBezTo>
                    <a:pt x="1258744" y="46750"/>
                    <a:pt x="1268996" y="71501"/>
                    <a:pt x="1268996" y="97308"/>
                  </a:cubicBezTo>
                  <a:lnTo>
                    <a:pt x="1268996" y="200702"/>
                  </a:lnTo>
                  <a:cubicBezTo>
                    <a:pt x="1268996" y="254444"/>
                    <a:pt x="1225429" y="298010"/>
                    <a:pt x="1171687" y="298010"/>
                  </a:cubicBezTo>
                  <a:lnTo>
                    <a:pt x="97308" y="298010"/>
                  </a:lnTo>
                  <a:cubicBezTo>
                    <a:pt x="43566" y="298010"/>
                    <a:pt x="0" y="254444"/>
                    <a:pt x="0" y="200702"/>
                  </a:cubicBezTo>
                  <a:lnTo>
                    <a:pt x="0" y="97308"/>
                  </a:lnTo>
                  <a:cubicBezTo>
                    <a:pt x="0" y="43566"/>
                    <a:pt x="43566" y="0"/>
                    <a:pt x="97308" y="0"/>
                  </a:cubicBezTo>
                  <a:close/>
                </a:path>
              </a:pathLst>
            </a:custGeom>
            <a:solidFill>
              <a:srgbClr val="FFFFFF"/>
            </a:solidFill>
            <a:ln cap="rnd">
              <a:noFill/>
              <a:prstDash val="solid"/>
              <a:round/>
            </a:ln>
          </p:spPr>
        </p:sp>
        <p:sp>
          <p:nvSpPr>
            <p:cNvPr name="TextBox 16" id="16"/>
            <p:cNvSpPr txBox="true"/>
            <p:nvPr/>
          </p:nvSpPr>
          <p:spPr>
            <a:xfrm>
              <a:off x="0" y="-209550"/>
              <a:ext cx="1268996" cy="507560"/>
            </a:xfrm>
            <a:prstGeom prst="rect">
              <a:avLst/>
            </a:prstGeom>
          </p:spPr>
          <p:txBody>
            <a:bodyPr anchor="ctr" rtlCol="false" tIns="50800" lIns="50800" bIns="50800" rIns="50800"/>
            <a:lstStyle/>
            <a:p>
              <a:pPr algn="ctr" marL="0" indent="0" lvl="0">
                <a:lnSpc>
                  <a:spcPts val="10217"/>
                </a:lnSpc>
                <a:spcBef>
                  <a:spcPct val="0"/>
                </a:spcBef>
              </a:pPr>
            </a:p>
          </p:txBody>
        </p:sp>
      </p:grpSp>
      <p:sp>
        <p:nvSpPr>
          <p:cNvPr name="TextBox 17" id="17"/>
          <p:cNvSpPr txBox="true"/>
          <p:nvPr/>
        </p:nvSpPr>
        <p:spPr>
          <a:xfrm rot="0">
            <a:off x="3911547" y="7023326"/>
            <a:ext cx="2088755" cy="1618398"/>
          </a:xfrm>
          <a:prstGeom prst="rect">
            <a:avLst/>
          </a:prstGeom>
        </p:spPr>
        <p:txBody>
          <a:bodyPr anchor="t" rtlCol="false" tIns="0" lIns="0" bIns="0" rIns="0">
            <a:spAutoFit/>
          </a:bodyPr>
          <a:lstStyle/>
          <a:p>
            <a:pPr algn="l">
              <a:lnSpc>
                <a:spcPts val="13475"/>
              </a:lnSpc>
              <a:spcBef>
                <a:spcPct val="0"/>
              </a:spcBef>
            </a:pPr>
            <a:r>
              <a:rPr lang="en-US" b="true" sz="9625">
                <a:solidFill>
                  <a:srgbClr val="337096"/>
                </a:solidFill>
                <a:latin typeface="DM Sans Bold"/>
                <a:ea typeface="DM Sans Bold"/>
                <a:cs typeface="DM Sans Bold"/>
                <a:sym typeface="DM Sans Bold"/>
              </a:rPr>
              <a:t>03</a:t>
            </a:r>
          </a:p>
        </p:txBody>
      </p:sp>
      <p:sp>
        <p:nvSpPr>
          <p:cNvPr name="TextBox 18" id="18"/>
          <p:cNvSpPr txBox="true"/>
          <p:nvPr/>
        </p:nvSpPr>
        <p:spPr>
          <a:xfrm rot="0">
            <a:off x="6329364" y="7102773"/>
            <a:ext cx="8564960" cy="1773670"/>
          </a:xfrm>
          <a:prstGeom prst="rect">
            <a:avLst/>
          </a:prstGeom>
        </p:spPr>
        <p:txBody>
          <a:bodyPr anchor="t" rtlCol="false" tIns="0" lIns="0" bIns="0" rIns="0">
            <a:spAutoFit/>
          </a:bodyPr>
          <a:lstStyle/>
          <a:p>
            <a:pPr algn="just">
              <a:lnSpc>
                <a:spcPts val="3563"/>
              </a:lnSpc>
              <a:spcBef>
                <a:spcPct val="0"/>
              </a:spcBef>
            </a:pPr>
            <a:r>
              <a:rPr lang="en-US" sz="2545">
                <a:solidFill>
                  <a:srgbClr val="000000"/>
                </a:solidFill>
                <a:latin typeface="DM Sans"/>
                <a:ea typeface="DM Sans"/>
                <a:cs typeface="DM Sans"/>
                <a:sym typeface="DM Sans"/>
              </a:rPr>
              <a:t>Impl</a:t>
            </a:r>
            <a:r>
              <a:rPr lang="en-US" sz="2545">
                <a:solidFill>
                  <a:srgbClr val="000000"/>
                </a:solidFill>
                <a:latin typeface="DM Sans"/>
                <a:ea typeface="DM Sans"/>
                <a:cs typeface="DM Sans"/>
                <a:sym typeface="DM Sans"/>
              </a:rPr>
              <a:t>ementar Distributed File System Replication (DFS-R) para clonar la página web entre el Nodo 1 y el Nodo 2.</a:t>
            </a:r>
          </a:p>
          <a:p>
            <a:pPr algn="just">
              <a:lnSpc>
                <a:spcPts val="3563"/>
              </a:lnSpc>
              <a:spcBef>
                <a:spcPct val="0"/>
              </a:spcBef>
            </a:pPr>
          </a:p>
          <a:p>
            <a:pPr algn="just">
              <a:lnSpc>
                <a:spcPts val="3563"/>
              </a:lnSpc>
              <a:spcBef>
                <a:spcPct val="0"/>
              </a:spcBef>
            </a:pPr>
            <a:r>
              <a:rPr lang="en-US" sz="2545">
                <a:solidFill>
                  <a:srgbClr val="000000"/>
                </a:solidFill>
                <a:latin typeface="DM Sans"/>
                <a:ea typeface="DM Sans"/>
                <a:cs typeface="DM Sans"/>
                <a:sym typeface="DM Sans"/>
              </a:rPr>
              <a:t>Carpeta Compartida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AF8"/>
        </a:solidFill>
      </p:bgPr>
    </p:bg>
    <p:spTree>
      <p:nvGrpSpPr>
        <p:cNvPr id="1" name=""/>
        <p:cNvGrpSpPr/>
        <p:nvPr/>
      </p:nvGrpSpPr>
      <p:grpSpPr>
        <a:xfrm>
          <a:off x="0" y="0"/>
          <a:ext cx="0" cy="0"/>
          <a:chOff x="0" y="0"/>
          <a:chExt cx="0" cy="0"/>
        </a:xfrm>
      </p:grpSpPr>
      <p:sp>
        <p:nvSpPr>
          <p:cNvPr name="TextBox 2" id="2"/>
          <p:cNvSpPr txBox="true"/>
          <p:nvPr/>
        </p:nvSpPr>
        <p:spPr>
          <a:xfrm rot="0">
            <a:off x="3564681" y="377516"/>
            <a:ext cx="11158638" cy="1051946"/>
          </a:xfrm>
          <a:prstGeom prst="rect">
            <a:avLst/>
          </a:prstGeom>
        </p:spPr>
        <p:txBody>
          <a:bodyPr anchor="t" rtlCol="false" tIns="0" lIns="0" bIns="0" rIns="0">
            <a:spAutoFit/>
          </a:bodyPr>
          <a:lstStyle/>
          <a:p>
            <a:pPr algn="l" marL="0" indent="0" lvl="0">
              <a:lnSpc>
                <a:spcPts val="7827"/>
              </a:lnSpc>
              <a:spcBef>
                <a:spcPct val="0"/>
              </a:spcBef>
            </a:pPr>
            <a:r>
              <a:rPr lang="en-US" b="true" sz="6416">
                <a:solidFill>
                  <a:srgbClr val="05066D"/>
                </a:solidFill>
                <a:latin typeface="Poppins Ultra-Bold"/>
                <a:ea typeface="Poppins Ultra-Bold"/>
                <a:cs typeface="Poppins Ultra-Bold"/>
                <a:sym typeface="Poppins Ultra-Bold"/>
              </a:rPr>
              <a:t>Hallazg</a:t>
            </a:r>
            <a:r>
              <a:rPr lang="en-US" b="true" sz="6416" strike="noStrike" u="none">
                <a:solidFill>
                  <a:srgbClr val="05066D"/>
                </a:solidFill>
                <a:latin typeface="Poppins Ultra-Bold"/>
                <a:ea typeface="Poppins Ultra-Bold"/>
                <a:cs typeface="Poppins Ultra-Bold"/>
                <a:sym typeface="Poppins Ultra-Bold"/>
              </a:rPr>
              <a:t>os </a:t>
            </a:r>
            <a:r>
              <a:rPr lang="en-US" b="true" sz="6416" strike="noStrike" u="none">
                <a:solidFill>
                  <a:srgbClr val="05066D"/>
                </a:solidFill>
                <a:latin typeface="Poppins Ultra-Bold"/>
                <a:ea typeface="Poppins Ultra-Bold"/>
                <a:cs typeface="Poppins Ultra-Bold"/>
                <a:sym typeface="Poppins Ultra-Bold"/>
              </a:rPr>
              <a:t>en </a:t>
            </a:r>
            <a:r>
              <a:rPr lang="en-US" b="true" sz="6416" strike="noStrike" u="none">
                <a:solidFill>
                  <a:srgbClr val="05066D"/>
                </a:solidFill>
                <a:latin typeface="Poppins Ultra-Bold"/>
                <a:ea typeface="Poppins Ultra-Bold"/>
                <a:cs typeface="Poppins Ultra-Bold"/>
                <a:sym typeface="Poppins Ultra-Bold"/>
              </a:rPr>
              <a:t>l</a:t>
            </a:r>
            <a:r>
              <a:rPr lang="en-US" b="true" sz="6416" strike="noStrike" u="none">
                <a:solidFill>
                  <a:srgbClr val="05066D"/>
                </a:solidFill>
                <a:latin typeface="Poppins Ultra-Bold"/>
                <a:ea typeface="Poppins Ultra-Bold"/>
                <a:cs typeface="Poppins Ultra-Bold"/>
                <a:sym typeface="Poppins Ultra-Bold"/>
              </a:rPr>
              <a:t>a Lit</a:t>
            </a:r>
            <a:r>
              <a:rPr lang="en-US" b="true" sz="6416" strike="noStrike" u="none">
                <a:solidFill>
                  <a:srgbClr val="05066D"/>
                </a:solidFill>
                <a:latin typeface="Poppins Ultra-Bold"/>
                <a:ea typeface="Poppins Ultra-Bold"/>
                <a:cs typeface="Poppins Ultra-Bold"/>
                <a:sym typeface="Poppins Ultra-Bold"/>
              </a:rPr>
              <a:t>e</a:t>
            </a:r>
            <a:r>
              <a:rPr lang="en-US" b="true" sz="6416" strike="noStrike" u="none">
                <a:solidFill>
                  <a:srgbClr val="05066D"/>
                </a:solidFill>
                <a:latin typeface="Poppins Ultra-Bold"/>
                <a:ea typeface="Poppins Ultra-Bold"/>
                <a:cs typeface="Poppins Ultra-Bold"/>
                <a:sym typeface="Poppins Ultra-Bold"/>
              </a:rPr>
              <a:t>ratura</a:t>
            </a:r>
          </a:p>
        </p:txBody>
      </p:sp>
      <p:grpSp>
        <p:nvGrpSpPr>
          <p:cNvPr name="Group 3" id="3"/>
          <p:cNvGrpSpPr/>
          <p:nvPr/>
        </p:nvGrpSpPr>
        <p:grpSpPr>
          <a:xfrm rot="0">
            <a:off x="1028700" y="1908800"/>
            <a:ext cx="7430656" cy="4181298"/>
            <a:chOff x="0" y="0"/>
            <a:chExt cx="1144371" cy="643948"/>
          </a:xfrm>
        </p:grpSpPr>
        <p:sp>
          <p:nvSpPr>
            <p:cNvPr name="Freeform 4" id="4"/>
            <p:cNvSpPr/>
            <p:nvPr/>
          </p:nvSpPr>
          <p:spPr>
            <a:xfrm flipH="false" flipV="false" rot="0">
              <a:off x="0" y="0"/>
              <a:ext cx="1144371" cy="643948"/>
            </a:xfrm>
            <a:custGeom>
              <a:avLst/>
              <a:gdLst/>
              <a:ahLst/>
              <a:cxnLst/>
              <a:rect r="r" b="b" t="t" l="l"/>
              <a:pathLst>
                <a:path h="643948" w="1144371">
                  <a:moveTo>
                    <a:pt x="17712" y="0"/>
                  </a:moveTo>
                  <a:lnTo>
                    <a:pt x="1126658" y="0"/>
                  </a:lnTo>
                  <a:cubicBezTo>
                    <a:pt x="1131356" y="0"/>
                    <a:pt x="1135861" y="1866"/>
                    <a:pt x="1139183" y="5188"/>
                  </a:cubicBezTo>
                  <a:cubicBezTo>
                    <a:pt x="1142504" y="8509"/>
                    <a:pt x="1144371" y="13015"/>
                    <a:pt x="1144371" y="17712"/>
                  </a:cubicBezTo>
                  <a:lnTo>
                    <a:pt x="1144371" y="626236"/>
                  </a:lnTo>
                  <a:cubicBezTo>
                    <a:pt x="1144371" y="630933"/>
                    <a:pt x="1142504" y="635438"/>
                    <a:pt x="1139183" y="638760"/>
                  </a:cubicBezTo>
                  <a:cubicBezTo>
                    <a:pt x="1135861" y="642082"/>
                    <a:pt x="1131356" y="643948"/>
                    <a:pt x="1126658" y="643948"/>
                  </a:cubicBezTo>
                  <a:lnTo>
                    <a:pt x="17712" y="643948"/>
                  </a:lnTo>
                  <a:cubicBezTo>
                    <a:pt x="13015" y="643948"/>
                    <a:pt x="8509" y="642082"/>
                    <a:pt x="5188" y="638760"/>
                  </a:cubicBezTo>
                  <a:cubicBezTo>
                    <a:pt x="1866" y="635438"/>
                    <a:pt x="0" y="630933"/>
                    <a:pt x="0" y="626236"/>
                  </a:cubicBezTo>
                  <a:lnTo>
                    <a:pt x="0" y="17712"/>
                  </a:lnTo>
                  <a:cubicBezTo>
                    <a:pt x="0" y="13015"/>
                    <a:pt x="1866" y="8509"/>
                    <a:pt x="5188" y="5188"/>
                  </a:cubicBezTo>
                  <a:cubicBezTo>
                    <a:pt x="8509" y="1866"/>
                    <a:pt x="13015" y="0"/>
                    <a:pt x="17712" y="0"/>
                  </a:cubicBezTo>
                  <a:close/>
                </a:path>
              </a:pathLst>
            </a:custGeom>
            <a:solidFill>
              <a:srgbClr val="E4EEFF">
                <a:alpha val="56863"/>
              </a:srgbClr>
            </a:solidFill>
            <a:ln cap="sq">
              <a:noFill/>
              <a:prstDash val="solid"/>
              <a:miter/>
            </a:ln>
          </p:spPr>
        </p:sp>
        <p:sp>
          <p:nvSpPr>
            <p:cNvPr name="TextBox 5" id="5"/>
            <p:cNvSpPr txBox="true"/>
            <p:nvPr/>
          </p:nvSpPr>
          <p:spPr>
            <a:xfrm>
              <a:off x="0" y="-57150"/>
              <a:ext cx="1144371" cy="701098"/>
            </a:xfrm>
            <a:prstGeom prst="rect">
              <a:avLst/>
            </a:prstGeom>
          </p:spPr>
          <p:txBody>
            <a:bodyPr anchor="ctr" rtlCol="false" tIns="50800" lIns="50800" bIns="50800" rIns="50800"/>
            <a:lstStyle/>
            <a:p>
              <a:pPr algn="ctr">
                <a:lnSpc>
                  <a:spcPts val="4682"/>
                </a:lnSpc>
              </a:pPr>
            </a:p>
          </p:txBody>
        </p:sp>
      </p:grpSp>
      <p:sp>
        <p:nvSpPr>
          <p:cNvPr name="TextBox 6" id="6"/>
          <p:cNvSpPr txBox="true"/>
          <p:nvPr/>
        </p:nvSpPr>
        <p:spPr>
          <a:xfrm rot="0">
            <a:off x="1028700" y="2436061"/>
            <a:ext cx="7128772" cy="3337414"/>
          </a:xfrm>
          <a:prstGeom prst="rect">
            <a:avLst/>
          </a:prstGeom>
        </p:spPr>
        <p:txBody>
          <a:bodyPr anchor="t" rtlCol="false" tIns="0" lIns="0" bIns="0" rIns="0">
            <a:spAutoFit/>
          </a:bodyPr>
          <a:lstStyle/>
          <a:p>
            <a:pPr algn="just">
              <a:lnSpc>
                <a:spcPts val="2948"/>
              </a:lnSpc>
              <a:spcBef>
                <a:spcPct val="0"/>
              </a:spcBef>
            </a:pPr>
            <a:r>
              <a:rPr lang="en-US" sz="2105">
                <a:solidFill>
                  <a:srgbClr val="000000"/>
                </a:solidFill>
                <a:latin typeface="DM Sans"/>
                <a:ea typeface="DM Sans"/>
                <a:cs typeface="DM Sans"/>
                <a:sym typeface="DM Sans"/>
              </a:rPr>
              <a:t>El análisis de </a:t>
            </a:r>
            <a:r>
              <a:rPr lang="en-US" sz="2105">
                <a:solidFill>
                  <a:srgbClr val="000000"/>
                </a:solidFill>
                <a:latin typeface="DM Sans"/>
                <a:ea typeface="DM Sans"/>
                <a:cs typeface="DM Sans"/>
                <a:sym typeface="DM Sans"/>
              </a:rPr>
              <a:t>rendimiento de algoritmos de balanceo demuestra que la distribución concurrente del tráfico previene la saturación de los nodos individuales (Al-Shayeji &amp; Al-Quraini, 2019). Esto se refuerza con el diseño de clústeres para servicios web, donde el uso de balanceadores garantiza la continuidad operativa (Casanova &amp; Fernández, 2018). Por ello, se implementó el protocolo Network Load Balancing de Microsoft (n.d.-c) en los servidores IIS.</a:t>
            </a:r>
          </a:p>
        </p:txBody>
      </p:sp>
      <p:sp>
        <p:nvSpPr>
          <p:cNvPr name="TextBox 7" id="7"/>
          <p:cNvSpPr txBox="true"/>
          <p:nvPr/>
        </p:nvSpPr>
        <p:spPr>
          <a:xfrm rot="0">
            <a:off x="2144510" y="1967869"/>
            <a:ext cx="4992353" cy="432680"/>
          </a:xfrm>
          <a:prstGeom prst="rect">
            <a:avLst/>
          </a:prstGeom>
        </p:spPr>
        <p:txBody>
          <a:bodyPr anchor="t" rtlCol="false" tIns="0" lIns="0" bIns="0" rIns="0">
            <a:spAutoFit/>
          </a:bodyPr>
          <a:lstStyle/>
          <a:p>
            <a:pPr algn="ctr">
              <a:lnSpc>
                <a:spcPts val="3699"/>
              </a:lnSpc>
              <a:spcBef>
                <a:spcPct val="0"/>
              </a:spcBef>
            </a:pPr>
            <a:r>
              <a:rPr lang="en-US" b="true" sz="2642">
                <a:solidFill>
                  <a:srgbClr val="1F2B5B"/>
                </a:solidFill>
                <a:latin typeface="DM Sans Bold"/>
                <a:ea typeface="DM Sans Bold"/>
                <a:cs typeface="DM Sans Bold"/>
                <a:sym typeface="DM Sans Bold"/>
              </a:rPr>
              <a:t>OPTIMIZACION</a:t>
            </a:r>
          </a:p>
        </p:txBody>
      </p:sp>
      <p:grpSp>
        <p:nvGrpSpPr>
          <p:cNvPr name="Group 8" id="8"/>
          <p:cNvGrpSpPr/>
          <p:nvPr/>
        </p:nvGrpSpPr>
        <p:grpSpPr>
          <a:xfrm rot="0">
            <a:off x="8674882" y="1994858"/>
            <a:ext cx="8313461" cy="3971302"/>
            <a:chOff x="0" y="0"/>
            <a:chExt cx="1280328" cy="611607"/>
          </a:xfrm>
        </p:grpSpPr>
        <p:sp>
          <p:nvSpPr>
            <p:cNvPr name="Freeform 9" id="9"/>
            <p:cNvSpPr/>
            <p:nvPr/>
          </p:nvSpPr>
          <p:spPr>
            <a:xfrm flipH="false" flipV="false" rot="0">
              <a:off x="0" y="0"/>
              <a:ext cx="1280328" cy="611607"/>
            </a:xfrm>
            <a:custGeom>
              <a:avLst/>
              <a:gdLst/>
              <a:ahLst/>
              <a:cxnLst/>
              <a:rect r="r" b="b" t="t" l="l"/>
              <a:pathLst>
                <a:path h="611607" w="1280328">
                  <a:moveTo>
                    <a:pt x="15831" y="0"/>
                  </a:moveTo>
                  <a:lnTo>
                    <a:pt x="1264497" y="0"/>
                  </a:lnTo>
                  <a:cubicBezTo>
                    <a:pt x="1268696" y="0"/>
                    <a:pt x="1272723" y="1668"/>
                    <a:pt x="1275692" y="4637"/>
                  </a:cubicBezTo>
                  <a:cubicBezTo>
                    <a:pt x="1278660" y="7606"/>
                    <a:pt x="1280328" y="11633"/>
                    <a:pt x="1280328" y="15831"/>
                  </a:cubicBezTo>
                  <a:lnTo>
                    <a:pt x="1280328" y="595776"/>
                  </a:lnTo>
                  <a:cubicBezTo>
                    <a:pt x="1280328" y="599974"/>
                    <a:pt x="1278660" y="604001"/>
                    <a:pt x="1275692" y="606970"/>
                  </a:cubicBezTo>
                  <a:cubicBezTo>
                    <a:pt x="1272723" y="609939"/>
                    <a:pt x="1268696" y="611607"/>
                    <a:pt x="1264497" y="611607"/>
                  </a:cubicBezTo>
                  <a:lnTo>
                    <a:pt x="15831" y="611607"/>
                  </a:lnTo>
                  <a:cubicBezTo>
                    <a:pt x="11633" y="611607"/>
                    <a:pt x="7606" y="609939"/>
                    <a:pt x="4637" y="606970"/>
                  </a:cubicBezTo>
                  <a:cubicBezTo>
                    <a:pt x="1668" y="604001"/>
                    <a:pt x="0" y="599974"/>
                    <a:pt x="0" y="595776"/>
                  </a:cubicBezTo>
                  <a:lnTo>
                    <a:pt x="0" y="15831"/>
                  </a:lnTo>
                  <a:cubicBezTo>
                    <a:pt x="0" y="11633"/>
                    <a:pt x="1668" y="7606"/>
                    <a:pt x="4637" y="4637"/>
                  </a:cubicBezTo>
                  <a:cubicBezTo>
                    <a:pt x="7606" y="1668"/>
                    <a:pt x="11633" y="0"/>
                    <a:pt x="15831" y="0"/>
                  </a:cubicBezTo>
                  <a:close/>
                </a:path>
              </a:pathLst>
            </a:custGeom>
            <a:solidFill>
              <a:srgbClr val="E4EEFF">
                <a:alpha val="56863"/>
              </a:srgbClr>
            </a:solidFill>
            <a:ln cap="sq">
              <a:noFill/>
              <a:prstDash val="solid"/>
              <a:miter/>
            </a:ln>
          </p:spPr>
        </p:sp>
        <p:sp>
          <p:nvSpPr>
            <p:cNvPr name="TextBox 10" id="10"/>
            <p:cNvSpPr txBox="true"/>
            <p:nvPr/>
          </p:nvSpPr>
          <p:spPr>
            <a:xfrm>
              <a:off x="0" y="-57150"/>
              <a:ext cx="1280328" cy="668757"/>
            </a:xfrm>
            <a:prstGeom prst="rect">
              <a:avLst/>
            </a:prstGeom>
          </p:spPr>
          <p:txBody>
            <a:bodyPr anchor="ctr" rtlCol="false" tIns="50800" lIns="50800" bIns="50800" rIns="50800"/>
            <a:lstStyle/>
            <a:p>
              <a:pPr algn="ctr">
                <a:lnSpc>
                  <a:spcPts val="4682"/>
                </a:lnSpc>
              </a:pPr>
            </a:p>
          </p:txBody>
        </p:sp>
      </p:grpSp>
      <p:sp>
        <p:nvSpPr>
          <p:cNvPr name="TextBox 11" id="11"/>
          <p:cNvSpPr txBox="true"/>
          <p:nvPr/>
        </p:nvSpPr>
        <p:spPr>
          <a:xfrm rot="0">
            <a:off x="8896271" y="2445586"/>
            <a:ext cx="7914864" cy="3159149"/>
          </a:xfrm>
          <a:prstGeom prst="rect">
            <a:avLst/>
          </a:prstGeom>
        </p:spPr>
        <p:txBody>
          <a:bodyPr anchor="t" rtlCol="false" tIns="0" lIns="0" bIns="0" rIns="0">
            <a:spAutoFit/>
          </a:bodyPr>
          <a:lstStyle/>
          <a:p>
            <a:pPr algn="just">
              <a:lnSpc>
                <a:spcPts val="2798"/>
              </a:lnSpc>
              <a:spcBef>
                <a:spcPct val="0"/>
              </a:spcBef>
            </a:pPr>
            <a:r>
              <a:rPr lang="en-US" sz="1999">
                <a:solidFill>
                  <a:srgbClr val="000000"/>
                </a:solidFill>
                <a:latin typeface="DM Sans"/>
                <a:ea typeface="DM Sans"/>
                <a:cs typeface="DM Sans"/>
                <a:sym typeface="DM Sans"/>
              </a:rPr>
              <a:t>La literatura sobre seguridad en sistemas distribuidos exige el aislamiento de los servicios críticos de autenticación (Anderson, 2020). Sumado a esto, las directivas nacionales para servicios de telemedicina requieren proteger la privacidad del paciente (Ministerio de Salud del Perú [MINSA], 2020). Esto obligó al proyecto a extraer el Active Directory Domain Services (Microsoft, n.d.-b) de los nodos web y colocarlo en un tercer servidor (SRV-DC01) independiente y aislado, minimizando el riesgo ante brechas de datos (Ponemon Institute, 2021).</a:t>
            </a:r>
          </a:p>
        </p:txBody>
      </p:sp>
      <p:sp>
        <p:nvSpPr>
          <p:cNvPr name="TextBox 12" id="12"/>
          <p:cNvSpPr txBox="true"/>
          <p:nvPr/>
        </p:nvSpPr>
        <p:spPr>
          <a:xfrm rot="0">
            <a:off x="8674882" y="1967869"/>
            <a:ext cx="8136254" cy="432680"/>
          </a:xfrm>
          <a:prstGeom prst="rect">
            <a:avLst/>
          </a:prstGeom>
        </p:spPr>
        <p:txBody>
          <a:bodyPr anchor="t" rtlCol="false" tIns="0" lIns="0" bIns="0" rIns="0">
            <a:spAutoFit/>
          </a:bodyPr>
          <a:lstStyle/>
          <a:p>
            <a:pPr algn="ctr">
              <a:lnSpc>
                <a:spcPts val="3699"/>
              </a:lnSpc>
              <a:spcBef>
                <a:spcPct val="0"/>
              </a:spcBef>
            </a:pPr>
            <a:r>
              <a:rPr lang="en-US" b="true" sz="2642">
                <a:solidFill>
                  <a:srgbClr val="1F2B5B"/>
                </a:solidFill>
                <a:latin typeface="DM Sans Bold"/>
                <a:ea typeface="DM Sans Bold"/>
                <a:cs typeface="DM Sans Bold"/>
                <a:sym typeface="DM Sans Bold"/>
              </a:rPr>
              <a:t>AISLAMIENTO DEL CONTROLADOR DE DOMINIO</a:t>
            </a:r>
          </a:p>
        </p:txBody>
      </p:sp>
      <p:grpSp>
        <p:nvGrpSpPr>
          <p:cNvPr name="Group 13" id="13"/>
          <p:cNvGrpSpPr/>
          <p:nvPr/>
        </p:nvGrpSpPr>
        <p:grpSpPr>
          <a:xfrm rot="0">
            <a:off x="2144510" y="6566348"/>
            <a:ext cx="9473050" cy="3081081"/>
            <a:chOff x="0" y="0"/>
            <a:chExt cx="1458913" cy="474507"/>
          </a:xfrm>
        </p:grpSpPr>
        <p:sp>
          <p:nvSpPr>
            <p:cNvPr name="Freeform 14" id="14"/>
            <p:cNvSpPr/>
            <p:nvPr/>
          </p:nvSpPr>
          <p:spPr>
            <a:xfrm flipH="false" flipV="false" rot="0">
              <a:off x="0" y="0"/>
              <a:ext cx="1458913" cy="474507"/>
            </a:xfrm>
            <a:custGeom>
              <a:avLst/>
              <a:gdLst/>
              <a:ahLst/>
              <a:cxnLst/>
              <a:rect r="r" b="b" t="t" l="l"/>
              <a:pathLst>
                <a:path h="474507" w="1458913">
                  <a:moveTo>
                    <a:pt x="13893" y="0"/>
                  </a:moveTo>
                  <a:lnTo>
                    <a:pt x="1445019" y="0"/>
                  </a:lnTo>
                  <a:cubicBezTo>
                    <a:pt x="1448704" y="0"/>
                    <a:pt x="1452238" y="1464"/>
                    <a:pt x="1454844" y="4069"/>
                  </a:cubicBezTo>
                  <a:cubicBezTo>
                    <a:pt x="1457449" y="6675"/>
                    <a:pt x="1458913" y="10209"/>
                    <a:pt x="1458913" y="13893"/>
                  </a:cubicBezTo>
                  <a:lnTo>
                    <a:pt x="1458913" y="460614"/>
                  </a:lnTo>
                  <a:cubicBezTo>
                    <a:pt x="1458913" y="464298"/>
                    <a:pt x="1457449" y="467832"/>
                    <a:pt x="1454844" y="470438"/>
                  </a:cubicBezTo>
                  <a:cubicBezTo>
                    <a:pt x="1452238" y="473043"/>
                    <a:pt x="1448704" y="474507"/>
                    <a:pt x="1445019" y="474507"/>
                  </a:cubicBezTo>
                  <a:lnTo>
                    <a:pt x="13893" y="474507"/>
                  </a:lnTo>
                  <a:cubicBezTo>
                    <a:pt x="10209" y="474507"/>
                    <a:pt x="6675" y="473043"/>
                    <a:pt x="4069" y="470438"/>
                  </a:cubicBezTo>
                  <a:cubicBezTo>
                    <a:pt x="1464" y="467832"/>
                    <a:pt x="0" y="464298"/>
                    <a:pt x="0" y="460614"/>
                  </a:cubicBezTo>
                  <a:lnTo>
                    <a:pt x="0" y="13893"/>
                  </a:lnTo>
                  <a:cubicBezTo>
                    <a:pt x="0" y="10209"/>
                    <a:pt x="1464" y="6675"/>
                    <a:pt x="4069" y="4069"/>
                  </a:cubicBezTo>
                  <a:cubicBezTo>
                    <a:pt x="6675" y="1464"/>
                    <a:pt x="10209" y="0"/>
                    <a:pt x="13893" y="0"/>
                  </a:cubicBezTo>
                  <a:close/>
                </a:path>
              </a:pathLst>
            </a:custGeom>
            <a:solidFill>
              <a:srgbClr val="E4EEFF">
                <a:alpha val="56863"/>
              </a:srgbClr>
            </a:solidFill>
            <a:ln cap="sq">
              <a:noFill/>
              <a:prstDash val="solid"/>
              <a:miter/>
            </a:ln>
          </p:spPr>
        </p:sp>
        <p:sp>
          <p:nvSpPr>
            <p:cNvPr name="TextBox 15" id="15"/>
            <p:cNvSpPr txBox="true"/>
            <p:nvPr/>
          </p:nvSpPr>
          <p:spPr>
            <a:xfrm>
              <a:off x="0" y="-57150"/>
              <a:ext cx="1458913" cy="531657"/>
            </a:xfrm>
            <a:prstGeom prst="rect">
              <a:avLst/>
            </a:prstGeom>
          </p:spPr>
          <p:txBody>
            <a:bodyPr anchor="ctr" rtlCol="false" tIns="50800" lIns="50800" bIns="50800" rIns="50800"/>
            <a:lstStyle/>
            <a:p>
              <a:pPr algn="ctr">
                <a:lnSpc>
                  <a:spcPts val="4682"/>
                </a:lnSpc>
              </a:pPr>
            </a:p>
          </p:txBody>
        </p:sp>
      </p:grpSp>
      <p:sp>
        <p:nvSpPr>
          <p:cNvPr name="TextBox 16" id="16"/>
          <p:cNvSpPr txBox="true"/>
          <p:nvPr/>
        </p:nvSpPr>
        <p:spPr>
          <a:xfrm rot="0">
            <a:off x="2312711" y="7050668"/>
            <a:ext cx="9139319" cy="2454299"/>
          </a:xfrm>
          <a:prstGeom prst="rect">
            <a:avLst/>
          </a:prstGeom>
        </p:spPr>
        <p:txBody>
          <a:bodyPr anchor="t" rtlCol="false" tIns="0" lIns="0" bIns="0" rIns="0">
            <a:spAutoFit/>
          </a:bodyPr>
          <a:lstStyle/>
          <a:p>
            <a:pPr algn="just">
              <a:lnSpc>
                <a:spcPts val="2798"/>
              </a:lnSpc>
              <a:spcBef>
                <a:spcPct val="0"/>
              </a:spcBef>
            </a:pPr>
            <a:r>
              <a:rPr lang="en-US" sz="1999">
                <a:solidFill>
                  <a:srgbClr val="000000"/>
                </a:solidFill>
                <a:latin typeface="DM Sans"/>
                <a:ea typeface="DM Sans"/>
                <a:cs typeface="DM Sans"/>
                <a:sym typeface="DM Sans"/>
              </a:rPr>
              <a:t>a</a:t>
            </a:r>
            <a:r>
              <a:rPr lang="en-US" sz="1999">
                <a:solidFill>
                  <a:srgbClr val="000000"/>
                </a:solidFill>
                <a:latin typeface="DM Sans"/>
                <a:ea typeface="DM Sans"/>
                <a:cs typeface="DM Sans"/>
                <a:sym typeface="DM Sans"/>
              </a:rPr>
              <a:t>ra que un sistema sea verdaderamente tolerante a fallos (Universidad Antonio de Nebrija, n.d.), la redundancia debe ser transparente para el usuario. La revisión de manuales técnicos demostró que el uso de Distributed File System Replication o DFS-R (Microsoft, n.d.-a) permite sincronizar directorios web optimizando el tráfico de red, lo que garantiza que los pacientes del Hospital Regional siempre consuman la misma versión del portal, sin importar qué nodo procese su solicitud (Thomas, 2022).</a:t>
            </a:r>
          </a:p>
        </p:txBody>
      </p:sp>
      <p:sp>
        <p:nvSpPr>
          <p:cNvPr name="TextBox 17" id="17"/>
          <p:cNvSpPr txBox="true"/>
          <p:nvPr/>
        </p:nvSpPr>
        <p:spPr>
          <a:xfrm rot="0">
            <a:off x="2774724" y="6656088"/>
            <a:ext cx="8502715" cy="432680"/>
          </a:xfrm>
          <a:prstGeom prst="rect">
            <a:avLst/>
          </a:prstGeom>
        </p:spPr>
        <p:txBody>
          <a:bodyPr anchor="t" rtlCol="false" tIns="0" lIns="0" bIns="0" rIns="0">
            <a:spAutoFit/>
          </a:bodyPr>
          <a:lstStyle/>
          <a:p>
            <a:pPr algn="ctr">
              <a:lnSpc>
                <a:spcPts val="3699"/>
              </a:lnSpc>
              <a:spcBef>
                <a:spcPct val="0"/>
              </a:spcBef>
            </a:pPr>
            <a:r>
              <a:rPr lang="en-US" b="true" sz="2642">
                <a:solidFill>
                  <a:srgbClr val="1F2B5B"/>
                </a:solidFill>
                <a:latin typeface="DM Sans Bold"/>
                <a:ea typeface="DM Sans Bold"/>
                <a:cs typeface="DM Sans Bold"/>
                <a:sym typeface="DM Sans Bold"/>
              </a:rPr>
              <a:t> REPLICACIÓN DISTRIBUIDA (DFS-R)</a:t>
            </a:r>
          </a:p>
        </p:txBody>
      </p:sp>
      <p:sp>
        <p:nvSpPr>
          <p:cNvPr name="Freeform 18" id="18"/>
          <p:cNvSpPr/>
          <p:nvPr/>
        </p:nvSpPr>
        <p:spPr>
          <a:xfrm flipH="false" flipV="false" rot="0">
            <a:off x="-735272" y="-889902"/>
            <a:ext cx="2630125" cy="3974090"/>
          </a:xfrm>
          <a:custGeom>
            <a:avLst/>
            <a:gdLst/>
            <a:ahLst/>
            <a:cxnLst/>
            <a:rect r="r" b="b" t="t" l="l"/>
            <a:pathLst>
              <a:path h="3974090" w="2630125">
                <a:moveTo>
                  <a:pt x="0" y="0"/>
                </a:moveTo>
                <a:lnTo>
                  <a:pt x="2630126" y="0"/>
                </a:lnTo>
                <a:lnTo>
                  <a:pt x="2630126" y="3974091"/>
                </a:lnTo>
                <a:lnTo>
                  <a:pt x="0" y="3974091"/>
                </a:lnTo>
                <a:lnTo>
                  <a:pt x="0" y="0"/>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true" flipV="true" rot="1704061">
            <a:off x="13110729" y="5876643"/>
            <a:ext cx="4991149" cy="7541571"/>
          </a:xfrm>
          <a:custGeom>
            <a:avLst/>
            <a:gdLst/>
            <a:ahLst/>
            <a:cxnLst/>
            <a:rect r="r" b="b" t="t" l="l"/>
            <a:pathLst>
              <a:path h="7541571" w="4991149">
                <a:moveTo>
                  <a:pt x="4991149" y="7541572"/>
                </a:moveTo>
                <a:lnTo>
                  <a:pt x="0" y="7541572"/>
                </a:lnTo>
                <a:lnTo>
                  <a:pt x="0" y="0"/>
                </a:lnTo>
                <a:lnTo>
                  <a:pt x="4991149" y="0"/>
                </a:lnTo>
                <a:lnTo>
                  <a:pt x="4991149" y="7541572"/>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0C5FF"/>
        </a:solidFill>
      </p:bgPr>
    </p:bg>
    <p:spTree>
      <p:nvGrpSpPr>
        <p:cNvPr id="1" name=""/>
        <p:cNvGrpSpPr/>
        <p:nvPr/>
      </p:nvGrpSpPr>
      <p:grpSpPr>
        <a:xfrm>
          <a:off x="0" y="0"/>
          <a:ext cx="0" cy="0"/>
          <a:chOff x="0" y="0"/>
          <a:chExt cx="0" cy="0"/>
        </a:xfrm>
      </p:grpSpPr>
      <p:sp>
        <p:nvSpPr>
          <p:cNvPr name="Freeform 2" id="2"/>
          <p:cNvSpPr/>
          <p:nvPr/>
        </p:nvSpPr>
        <p:spPr>
          <a:xfrm flipH="true" flipV="true" rot="1704061">
            <a:off x="13824431" y="5385399"/>
            <a:ext cx="4991149" cy="7541571"/>
          </a:xfrm>
          <a:custGeom>
            <a:avLst/>
            <a:gdLst/>
            <a:ahLst/>
            <a:cxnLst/>
            <a:rect r="r" b="b" t="t" l="l"/>
            <a:pathLst>
              <a:path h="7541571" w="4991149">
                <a:moveTo>
                  <a:pt x="4991149" y="7541572"/>
                </a:moveTo>
                <a:lnTo>
                  <a:pt x="0" y="7541572"/>
                </a:lnTo>
                <a:lnTo>
                  <a:pt x="0" y="0"/>
                </a:lnTo>
                <a:lnTo>
                  <a:pt x="4991149" y="0"/>
                </a:lnTo>
                <a:lnTo>
                  <a:pt x="4991149" y="7541572"/>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1704061">
            <a:off x="11603194" y="525483"/>
            <a:ext cx="8220239" cy="12420690"/>
          </a:xfrm>
          <a:custGeom>
            <a:avLst/>
            <a:gdLst/>
            <a:ahLst/>
            <a:cxnLst/>
            <a:rect r="r" b="b" t="t" l="l"/>
            <a:pathLst>
              <a:path h="12420690" w="8220239">
                <a:moveTo>
                  <a:pt x="8220239" y="12420690"/>
                </a:moveTo>
                <a:lnTo>
                  <a:pt x="0" y="12420690"/>
                </a:lnTo>
                <a:lnTo>
                  <a:pt x="0" y="0"/>
                </a:lnTo>
                <a:lnTo>
                  <a:pt x="8220239" y="0"/>
                </a:lnTo>
                <a:lnTo>
                  <a:pt x="8220239" y="12420690"/>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368916" y="3165973"/>
            <a:ext cx="8187644" cy="3659779"/>
          </a:xfrm>
          <a:prstGeom prst="rect">
            <a:avLst/>
          </a:prstGeom>
        </p:spPr>
        <p:txBody>
          <a:bodyPr anchor="t" rtlCol="false" tIns="0" lIns="0" bIns="0" rIns="0">
            <a:spAutoFit/>
          </a:bodyPr>
          <a:lstStyle/>
          <a:p>
            <a:pPr algn="l" marL="0" indent="0" lvl="0">
              <a:lnSpc>
                <a:spcPts val="14330"/>
              </a:lnSpc>
              <a:spcBef>
                <a:spcPct val="0"/>
              </a:spcBef>
            </a:pPr>
            <a:r>
              <a:rPr lang="en-US" b="true" sz="10236">
                <a:solidFill>
                  <a:srgbClr val="FFFFFF"/>
                </a:solidFill>
                <a:latin typeface="Poppins Bold"/>
                <a:ea typeface="Poppins Bold"/>
                <a:cs typeface="Poppins Bold"/>
                <a:sym typeface="Poppins Bold"/>
              </a:rPr>
              <a:t>RIESGOS Y MITIGACIÓN</a:t>
            </a:r>
          </a:p>
        </p:txBody>
      </p:sp>
      <p:sp>
        <p:nvSpPr>
          <p:cNvPr name="Freeform 5" id="5"/>
          <p:cNvSpPr/>
          <p:nvPr/>
        </p:nvSpPr>
        <p:spPr>
          <a:xfrm flipH="true" flipV="false" rot="0">
            <a:off x="11142735" y="2195012"/>
            <a:ext cx="7145265" cy="8091988"/>
          </a:xfrm>
          <a:custGeom>
            <a:avLst/>
            <a:gdLst/>
            <a:ahLst/>
            <a:cxnLst/>
            <a:rect r="r" b="b" t="t" l="l"/>
            <a:pathLst>
              <a:path h="8091988" w="7145265">
                <a:moveTo>
                  <a:pt x="7145265" y="0"/>
                </a:moveTo>
                <a:lnTo>
                  <a:pt x="0" y="0"/>
                </a:lnTo>
                <a:lnTo>
                  <a:pt x="0" y="8091988"/>
                </a:lnTo>
                <a:lnTo>
                  <a:pt x="7145265" y="8091988"/>
                </a:lnTo>
                <a:lnTo>
                  <a:pt x="714526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AF8"/>
        </a:solidFill>
      </p:bgPr>
    </p:bg>
    <p:spTree>
      <p:nvGrpSpPr>
        <p:cNvPr id="1" name=""/>
        <p:cNvGrpSpPr/>
        <p:nvPr/>
      </p:nvGrpSpPr>
      <p:grpSpPr>
        <a:xfrm>
          <a:off x="0" y="0"/>
          <a:ext cx="0" cy="0"/>
          <a:chOff x="0" y="0"/>
          <a:chExt cx="0" cy="0"/>
        </a:xfrm>
      </p:grpSpPr>
      <p:grpSp>
        <p:nvGrpSpPr>
          <p:cNvPr name="Group 2" id="2"/>
          <p:cNvGrpSpPr/>
          <p:nvPr/>
        </p:nvGrpSpPr>
        <p:grpSpPr>
          <a:xfrm rot="0">
            <a:off x="1739866" y="2058516"/>
            <a:ext cx="2825807" cy="282580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418"/>
                </a:lnSpc>
              </a:pPr>
            </a:p>
          </p:txBody>
        </p:sp>
      </p:grpSp>
      <p:grpSp>
        <p:nvGrpSpPr>
          <p:cNvPr name="Group 5" id="5"/>
          <p:cNvGrpSpPr/>
          <p:nvPr/>
        </p:nvGrpSpPr>
        <p:grpSpPr>
          <a:xfrm rot="0">
            <a:off x="5744191" y="2058516"/>
            <a:ext cx="2825807" cy="282580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18"/>
                </a:lnSpc>
              </a:pPr>
            </a:p>
          </p:txBody>
        </p:sp>
      </p:grpSp>
      <p:grpSp>
        <p:nvGrpSpPr>
          <p:cNvPr name="Group 8" id="8"/>
          <p:cNvGrpSpPr/>
          <p:nvPr/>
        </p:nvGrpSpPr>
        <p:grpSpPr>
          <a:xfrm rot="0">
            <a:off x="9801137" y="2058516"/>
            <a:ext cx="2825807" cy="282580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418"/>
                </a:lnSpc>
              </a:pPr>
            </a:p>
          </p:txBody>
        </p:sp>
      </p:grpSp>
      <p:grpSp>
        <p:nvGrpSpPr>
          <p:cNvPr name="Group 11" id="11"/>
          <p:cNvGrpSpPr/>
          <p:nvPr/>
        </p:nvGrpSpPr>
        <p:grpSpPr>
          <a:xfrm rot="0">
            <a:off x="13805462" y="2058516"/>
            <a:ext cx="2825807" cy="282580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C5FF"/>
            </a:soli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418"/>
                </a:lnSpc>
              </a:pPr>
            </a:p>
          </p:txBody>
        </p:sp>
      </p:grpSp>
      <p:sp>
        <p:nvSpPr>
          <p:cNvPr name="Freeform 14" id="14"/>
          <p:cNvSpPr/>
          <p:nvPr/>
        </p:nvSpPr>
        <p:spPr>
          <a:xfrm flipH="false" flipV="false" rot="0">
            <a:off x="-2973818" y="-6635355"/>
            <a:ext cx="28212405" cy="8874084"/>
          </a:xfrm>
          <a:custGeom>
            <a:avLst/>
            <a:gdLst/>
            <a:ahLst/>
            <a:cxnLst/>
            <a:rect r="r" b="b" t="t" l="l"/>
            <a:pathLst>
              <a:path h="8874084" w="28212405">
                <a:moveTo>
                  <a:pt x="0" y="0"/>
                </a:moveTo>
                <a:lnTo>
                  <a:pt x="28212405" y="0"/>
                </a:lnTo>
                <a:lnTo>
                  <a:pt x="28212405" y="8874083"/>
                </a:lnTo>
                <a:lnTo>
                  <a:pt x="0" y="8874083"/>
                </a:lnTo>
                <a:lnTo>
                  <a:pt x="0" y="0"/>
                </a:lnTo>
                <a:close/>
              </a:path>
            </a:pathLst>
          </a:custGeom>
          <a:blipFill>
            <a:blip r:embed="rId2">
              <a:alphaModFix amt="43999"/>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1623098" y="5537130"/>
            <a:ext cx="3059342" cy="2697304"/>
            <a:chOff x="0" y="0"/>
            <a:chExt cx="404418" cy="356560"/>
          </a:xfrm>
        </p:grpSpPr>
        <p:sp>
          <p:nvSpPr>
            <p:cNvPr name="Freeform 16" id="16"/>
            <p:cNvSpPr/>
            <p:nvPr/>
          </p:nvSpPr>
          <p:spPr>
            <a:xfrm flipH="false" flipV="false" rot="0">
              <a:off x="0" y="0"/>
              <a:ext cx="404418" cy="356560"/>
            </a:xfrm>
            <a:custGeom>
              <a:avLst/>
              <a:gdLst/>
              <a:ahLst/>
              <a:cxnLst/>
              <a:rect r="r" b="b" t="t" l="l"/>
              <a:pathLst>
                <a:path h="356560" w="404418">
                  <a:moveTo>
                    <a:pt x="43020" y="0"/>
                  </a:moveTo>
                  <a:lnTo>
                    <a:pt x="361398" y="0"/>
                  </a:lnTo>
                  <a:cubicBezTo>
                    <a:pt x="385157" y="0"/>
                    <a:pt x="404418" y="19261"/>
                    <a:pt x="404418" y="43020"/>
                  </a:cubicBezTo>
                  <a:lnTo>
                    <a:pt x="404418" y="313540"/>
                  </a:lnTo>
                  <a:cubicBezTo>
                    <a:pt x="404418" y="337299"/>
                    <a:pt x="385157" y="356560"/>
                    <a:pt x="361398" y="356560"/>
                  </a:cubicBezTo>
                  <a:lnTo>
                    <a:pt x="43020" y="356560"/>
                  </a:lnTo>
                  <a:cubicBezTo>
                    <a:pt x="19261" y="356560"/>
                    <a:pt x="0" y="337299"/>
                    <a:pt x="0" y="313540"/>
                  </a:cubicBezTo>
                  <a:lnTo>
                    <a:pt x="0" y="43020"/>
                  </a:lnTo>
                  <a:cubicBezTo>
                    <a:pt x="0" y="19261"/>
                    <a:pt x="19261" y="0"/>
                    <a:pt x="43020" y="0"/>
                  </a:cubicBezTo>
                  <a:close/>
                </a:path>
              </a:pathLst>
            </a:custGeom>
            <a:solidFill>
              <a:srgbClr val="B0C5FF"/>
            </a:solidFill>
            <a:ln cap="sq">
              <a:noFill/>
              <a:prstDash val="solid"/>
              <a:miter/>
            </a:ln>
          </p:spPr>
        </p:sp>
        <p:sp>
          <p:nvSpPr>
            <p:cNvPr name="TextBox 17" id="17"/>
            <p:cNvSpPr txBox="true"/>
            <p:nvPr/>
          </p:nvSpPr>
          <p:spPr>
            <a:xfrm>
              <a:off x="0" y="-47625"/>
              <a:ext cx="404418" cy="404185"/>
            </a:xfrm>
            <a:prstGeom prst="rect">
              <a:avLst/>
            </a:prstGeom>
          </p:spPr>
          <p:txBody>
            <a:bodyPr anchor="ctr" rtlCol="false" tIns="50800" lIns="50800" bIns="50800" rIns="50800"/>
            <a:lstStyle/>
            <a:p>
              <a:pPr algn="ctr">
                <a:lnSpc>
                  <a:spcPts val="3716"/>
                </a:lnSpc>
              </a:pPr>
              <a:r>
                <a:rPr lang="en-US" b="true" sz="2693" spc="263">
                  <a:solidFill>
                    <a:srgbClr val="000000"/>
                  </a:solidFill>
                  <a:latin typeface="DM Sans Bold"/>
                  <a:ea typeface="DM Sans Bold"/>
                  <a:cs typeface="DM Sans Bold"/>
                  <a:sym typeface="DM Sans Bold"/>
                </a:rPr>
                <a:t>Desincronización del DFS-R</a:t>
              </a:r>
            </a:p>
          </p:txBody>
        </p:sp>
      </p:grpSp>
      <p:grpSp>
        <p:nvGrpSpPr>
          <p:cNvPr name="Group 18" id="18"/>
          <p:cNvGrpSpPr/>
          <p:nvPr/>
        </p:nvGrpSpPr>
        <p:grpSpPr>
          <a:xfrm rot="0">
            <a:off x="5627423" y="5537130"/>
            <a:ext cx="3059342" cy="2697304"/>
            <a:chOff x="0" y="0"/>
            <a:chExt cx="404418" cy="356560"/>
          </a:xfrm>
        </p:grpSpPr>
        <p:sp>
          <p:nvSpPr>
            <p:cNvPr name="Freeform 19" id="19"/>
            <p:cNvSpPr/>
            <p:nvPr/>
          </p:nvSpPr>
          <p:spPr>
            <a:xfrm flipH="false" flipV="false" rot="0">
              <a:off x="0" y="0"/>
              <a:ext cx="404418" cy="356560"/>
            </a:xfrm>
            <a:custGeom>
              <a:avLst/>
              <a:gdLst/>
              <a:ahLst/>
              <a:cxnLst/>
              <a:rect r="r" b="b" t="t" l="l"/>
              <a:pathLst>
                <a:path h="356560" w="404418">
                  <a:moveTo>
                    <a:pt x="43020" y="0"/>
                  </a:moveTo>
                  <a:lnTo>
                    <a:pt x="361398" y="0"/>
                  </a:lnTo>
                  <a:cubicBezTo>
                    <a:pt x="385157" y="0"/>
                    <a:pt x="404418" y="19261"/>
                    <a:pt x="404418" y="43020"/>
                  </a:cubicBezTo>
                  <a:lnTo>
                    <a:pt x="404418" y="313540"/>
                  </a:lnTo>
                  <a:cubicBezTo>
                    <a:pt x="404418" y="337299"/>
                    <a:pt x="385157" y="356560"/>
                    <a:pt x="361398" y="356560"/>
                  </a:cubicBezTo>
                  <a:lnTo>
                    <a:pt x="43020" y="356560"/>
                  </a:lnTo>
                  <a:cubicBezTo>
                    <a:pt x="19261" y="356560"/>
                    <a:pt x="0" y="337299"/>
                    <a:pt x="0" y="313540"/>
                  </a:cubicBezTo>
                  <a:lnTo>
                    <a:pt x="0" y="43020"/>
                  </a:lnTo>
                  <a:cubicBezTo>
                    <a:pt x="0" y="19261"/>
                    <a:pt x="19261" y="0"/>
                    <a:pt x="43020" y="0"/>
                  </a:cubicBezTo>
                  <a:close/>
                </a:path>
              </a:pathLst>
            </a:custGeom>
            <a:solidFill>
              <a:srgbClr val="B0C5FF"/>
            </a:solidFill>
            <a:ln cap="sq">
              <a:noFill/>
              <a:prstDash val="solid"/>
              <a:miter/>
            </a:ln>
          </p:spPr>
        </p:sp>
        <p:sp>
          <p:nvSpPr>
            <p:cNvPr name="TextBox 20" id="20"/>
            <p:cNvSpPr txBox="true"/>
            <p:nvPr/>
          </p:nvSpPr>
          <p:spPr>
            <a:xfrm>
              <a:off x="0" y="-47625"/>
              <a:ext cx="404418" cy="404185"/>
            </a:xfrm>
            <a:prstGeom prst="rect">
              <a:avLst/>
            </a:prstGeom>
          </p:spPr>
          <p:txBody>
            <a:bodyPr anchor="ctr" rtlCol="false" tIns="50800" lIns="50800" bIns="50800" rIns="50800"/>
            <a:lstStyle/>
            <a:p>
              <a:pPr algn="ctr">
                <a:lnSpc>
                  <a:spcPts val="3716"/>
                </a:lnSpc>
              </a:pPr>
              <a:r>
                <a:rPr lang="en-US" b="true" sz="2693" spc="263">
                  <a:solidFill>
                    <a:srgbClr val="000000"/>
                  </a:solidFill>
                  <a:latin typeface="DM Sans Bold"/>
                  <a:ea typeface="DM Sans Bold"/>
                  <a:cs typeface="DM Sans Bold"/>
                  <a:sym typeface="DM Sans Bold"/>
                </a:rPr>
                <a:t>Falla de convergencia en el clúster</a:t>
              </a:r>
            </a:p>
          </p:txBody>
        </p:sp>
      </p:grpSp>
      <p:sp>
        <p:nvSpPr>
          <p:cNvPr name="TextBox 21" id="21"/>
          <p:cNvSpPr txBox="true"/>
          <p:nvPr/>
        </p:nvSpPr>
        <p:spPr>
          <a:xfrm rot="0">
            <a:off x="1684521" y="1947608"/>
            <a:ext cx="2811895" cy="2638048"/>
          </a:xfrm>
          <a:prstGeom prst="rect">
            <a:avLst/>
          </a:prstGeom>
        </p:spPr>
        <p:txBody>
          <a:bodyPr anchor="t" rtlCol="false" tIns="0" lIns="0" bIns="0" rIns="0">
            <a:spAutoFit/>
          </a:bodyPr>
          <a:lstStyle/>
          <a:p>
            <a:pPr algn="ctr">
              <a:lnSpc>
                <a:spcPts val="20495"/>
              </a:lnSpc>
            </a:pPr>
            <a:r>
              <a:rPr lang="en-US" sz="14639" b="true">
                <a:solidFill>
                  <a:srgbClr val="05066D"/>
                </a:solidFill>
                <a:latin typeface="Poppins Bold"/>
                <a:ea typeface="Poppins Bold"/>
                <a:cs typeface="Poppins Bold"/>
                <a:sym typeface="Poppins Bold"/>
              </a:rPr>
              <a:t>1</a:t>
            </a:r>
          </a:p>
        </p:txBody>
      </p:sp>
      <p:sp>
        <p:nvSpPr>
          <p:cNvPr name="TextBox 22" id="22"/>
          <p:cNvSpPr txBox="true"/>
          <p:nvPr/>
        </p:nvSpPr>
        <p:spPr>
          <a:xfrm rot="0">
            <a:off x="5771746" y="1947608"/>
            <a:ext cx="2811895" cy="2638048"/>
          </a:xfrm>
          <a:prstGeom prst="rect">
            <a:avLst/>
          </a:prstGeom>
        </p:spPr>
        <p:txBody>
          <a:bodyPr anchor="t" rtlCol="false" tIns="0" lIns="0" bIns="0" rIns="0">
            <a:spAutoFit/>
          </a:bodyPr>
          <a:lstStyle/>
          <a:p>
            <a:pPr algn="ctr">
              <a:lnSpc>
                <a:spcPts val="20495"/>
              </a:lnSpc>
            </a:pPr>
            <a:r>
              <a:rPr lang="en-US" sz="14639" b="true">
                <a:solidFill>
                  <a:srgbClr val="05066D"/>
                </a:solidFill>
                <a:latin typeface="Poppins Bold"/>
                <a:ea typeface="Poppins Bold"/>
                <a:cs typeface="Poppins Bold"/>
                <a:sym typeface="Poppins Bold"/>
              </a:rPr>
              <a:t>2</a:t>
            </a:r>
          </a:p>
        </p:txBody>
      </p:sp>
      <p:sp>
        <p:nvSpPr>
          <p:cNvPr name="TextBox 23" id="23"/>
          <p:cNvSpPr txBox="true"/>
          <p:nvPr/>
        </p:nvSpPr>
        <p:spPr>
          <a:xfrm rot="0">
            <a:off x="9859991" y="1947608"/>
            <a:ext cx="2811895" cy="2638048"/>
          </a:xfrm>
          <a:prstGeom prst="rect">
            <a:avLst/>
          </a:prstGeom>
        </p:spPr>
        <p:txBody>
          <a:bodyPr anchor="t" rtlCol="false" tIns="0" lIns="0" bIns="0" rIns="0">
            <a:spAutoFit/>
          </a:bodyPr>
          <a:lstStyle/>
          <a:p>
            <a:pPr algn="ctr">
              <a:lnSpc>
                <a:spcPts val="20495"/>
              </a:lnSpc>
            </a:pPr>
            <a:r>
              <a:rPr lang="en-US" sz="14639" b="true">
                <a:solidFill>
                  <a:srgbClr val="05066D"/>
                </a:solidFill>
                <a:latin typeface="Poppins Bold"/>
                <a:ea typeface="Poppins Bold"/>
                <a:cs typeface="Poppins Bold"/>
                <a:sym typeface="Poppins Bold"/>
              </a:rPr>
              <a:t>3</a:t>
            </a:r>
          </a:p>
        </p:txBody>
      </p:sp>
      <p:sp>
        <p:nvSpPr>
          <p:cNvPr name="TextBox 24" id="24"/>
          <p:cNvSpPr txBox="true"/>
          <p:nvPr/>
        </p:nvSpPr>
        <p:spPr>
          <a:xfrm rot="0">
            <a:off x="13852986" y="1947608"/>
            <a:ext cx="2811895" cy="2638048"/>
          </a:xfrm>
          <a:prstGeom prst="rect">
            <a:avLst/>
          </a:prstGeom>
        </p:spPr>
        <p:txBody>
          <a:bodyPr anchor="t" rtlCol="false" tIns="0" lIns="0" bIns="0" rIns="0">
            <a:spAutoFit/>
          </a:bodyPr>
          <a:lstStyle/>
          <a:p>
            <a:pPr algn="ctr">
              <a:lnSpc>
                <a:spcPts val="20495"/>
              </a:lnSpc>
            </a:pPr>
            <a:r>
              <a:rPr lang="en-US" sz="14639" b="true">
                <a:solidFill>
                  <a:srgbClr val="05066D"/>
                </a:solidFill>
                <a:latin typeface="Poppins Bold"/>
                <a:ea typeface="Poppins Bold"/>
                <a:cs typeface="Poppins Bold"/>
                <a:sym typeface="Poppins Bold"/>
              </a:rPr>
              <a:t>4</a:t>
            </a:r>
          </a:p>
        </p:txBody>
      </p:sp>
      <p:grpSp>
        <p:nvGrpSpPr>
          <p:cNvPr name="Group 25" id="25"/>
          <p:cNvGrpSpPr/>
          <p:nvPr/>
        </p:nvGrpSpPr>
        <p:grpSpPr>
          <a:xfrm rot="0">
            <a:off x="9684370" y="5537130"/>
            <a:ext cx="3059342" cy="2697304"/>
            <a:chOff x="0" y="0"/>
            <a:chExt cx="404418" cy="356560"/>
          </a:xfrm>
        </p:grpSpPr>
        <p:sp>
          <p:nvSpPr>
            <p:cNvPr name="Freeform 26" id="26"/>
            <p:cNvSpPr/>
            <p:nvPr/>
          </p:nvSpPr>
          <p:spPr>
            <a:xfrm flipH="false" flipV="false" rot="0">
              <a:off x="0" y="0"/>
              <a:ext cx="404418" cy="356560"/>
            </a:xfrm>
            <a:custGeom>
              <a:avLst/>
              <a:gdLst/>
              <a:ahLst/>
              <a:cxnLst/>
              <a:rect r="r" b="b" t="t" l="l"/>
              <a:pathLst>
                <a:path h="356560" w="404418">
                  <a:moveTo>
                    <a:pt x="43020" y="0"/>
                  </a:moveTo>
                  <a:lnTo>
                    <a:pt x="361398" y="0"/>
                  </a:lnTo>
                  <a:cubicBezTo>
                    <a:pt x="385157" y="0"/>
                    <a:pt x="404418" y="19261"/>
                    <a:pt x="404418" y="43020"/>
                  </a:cubicBezTo>
                  <a:lnTo>
                    <a:pt x="404418" y="313540"/>
                  </a:lnTo>
                  <a:cubicBezTo>
                    <a:pt x="404418" y="337299"/>
                    <a:pt x="385157" y="356560"/>
                    <a:pt x="361398" y="356560"/>
                  </a:cubicBezTo>
                  <a:lnTo>
                    <a:pt x="43020" y="356560"/>
                  </a:lnTo>
                  <a:cubicBezTo>
                    <a:pt x="19261" y="356560"/>
                    <a:pt x="0" y="337299"/>
                    <a:pt x="0" y="313540"/>
                  </a:cubicBezTo>
                  <a:lnTo>
                    <a:pt x="0" y="43020"/>
                  </a:lnTo>
                  <a:cubicBezTo>
                    <a:pt x="0" y="19261"/>
                    <a:pt x="19261" y="0"/>
                    <a:pt x="43020" y="0"/>
                  </a:cubicBezTo>
                  <a:close/>
                </a:path>
              </a:pathLst>
            </a:custGeom>
            <a:solidFill>
              <a:srgbClr val="B0C5FF"/>
            </a:solidFill>
            <a:ln cap="sq">
              <a:noFill/>
              <a:prstDash val="solid"/>
              <a:miter/>
            </a:ln>
          </p:spPr>
        </p:sp>
        <p:sp>
          <p:nvSpPr>
            <p:cNvPr name="TextBox 27" id="27"/>
            <p:cNvSpPr txBox="true"/>
            <p:nvPr/>
          </p:nvSpPr>
          <p:spPr>
            <a:xfrm>
              <a:off x="0" y="-47625"/>
              <a:ext cx="404418" cy="404185"/>
            </a:xfrm>
            <a:prstGeom prst="rect">
              <a:avLst/>
            </a:prstGeom>
          </p:spPr>
          <p:txBody>
            <a:bodyPr anchor="ctr" rtlCol="false" tIns="50800" lIns="50800" bIns="50800" rIns="50800"/>
            <a:lstStyle/>
            <a:p>
              <a:pPr algn="ctr">
                <a:lnSpc>
                  <a:spcPts val="3716"/>
                </a:lnSpc>
              </a:pPr>
              <a:r>
                <a:rPr lang="en-US" b="true" sz="2693" spc="263">
                  <a:solidFill>
                    <a:srgbClr val="000000"/>
                  </a:solidFill>
                  <a:latin typeface="DM Sans Bold"/>
                  <a:ea typeface="DM Sans Bold"/>
                  <a:cs typeface="DM Sans Bold"/>
                  <a:sym typeface="DM Sans Bold"/>
                </a:rPr>
                <a:t>Administración deficiente por falta de capacitación</a:t>
              </a:r>
            </a:p>
          </p:txBody>
        </p:sp>
      </p:grpSp>
      <p:grpSp>
        <p:nvGrpSpPr>
          <p:cNvPr name="Group 28" id="28"/>
          <p:cNvGrpSpPr/>
          <p:nvPr/>
        </p:nvGrpSpPr>
        <p:grpSpPr>
          <a:xfrm rot="0">
            <a:off x="13729262" y="5537130"/>
            <a:ext cx="3059342" cy="2697304"/>
            <a:chOff x="0" y="0"/>
            <a:chExt cx="404418" cy="356560"/>
          </a:xfrm>
        </p:grpSpPr>
        <p:sp>
          <p:nvSpPr>
            <p:cNvPr name="Freeform 29" id="29"/>
            <p:cNvSpPr/>
            <p:nvPr/>
          </p:nvSpPr>
          <p:spPr>
            <a:xfrm flipH="false" flipV="false" rot="0">
              <a:off x="0" y="0"/>
              <a:ext cx="404418" cy="356560"/>
            </a:xfrm>
            <a:custGeom>
              <a:avLst/>
              <a:gdLst/>
              <a:ahLst/>
              <a:cxnLst/>
              <a:rect r="r" b="b" t="t" l="l"/>
              <a:pathLst>
                <a:path h="356560" w="404418">
                  <a:moveTo>
                    <a:pt x="43020" y="0"/>
                  </a:moveTo>
                  <a:lnTo>
                    <a:pt x="361398" y="0"/>
                  </a:lnTo>
                  <a:cubicBezTo>
                    <a:pt x="385157" y="0"/>
                    <a:pt x="404418" y="19261"/>
                    <a:pt x="404418" y="43020"/>
                  </a:cubicBezTo>
                  <a:lnTo>
                    <a:pt x="404418" y="313540"/>
                  </a:lnTo>
                  <a:cubicBezTo>
                    <a:pt x="404418" y="337299"/>
                    <a:pt x="385157" y="356560"/>
                    <a:pt x="361398" y="356560"/>
                  </a:cubicBezTo>
                  <a:lnTo>
                    <a:pt x="43020" y="356560"/>
                  </a:lnTo>
                  <a:cubicBezTo>
                    <a:pt x="19261" y="356560"/>
                    <a:pt x="0" y="337299"/>
                    <a:pt x="0" y="313540"/>
                  </a:cubicBezTo>
                  <a:lnTo>
                    <a:pt x="0" y="43020"/>
                  </a:lnTo>
                  <a:cubicBezTo>
                    <a:pt x="0" y="19261"/>
                    <a:pt x="19261" y="0"/>
                    <a:pt x="43020" y="0"/>
                  </a:cubicBezTo>
                  <a:close/>
                </a:path>
              </a:pathLst>
            </a:custGeom>
            <a:solidFill>
              <a:srgbClr val="B0C5FF"/>
            </a:solidFill>
            <a:ln cap="sq">
              <a:noFill/>
              <a:prstDash val="solid"/>
              <a:miter/>
            </a:ln>
          </p:spPr>
        </p:sp>
        <p:sp>
          <p:nvSpPr>
            <p:cNvPr name="TextBox 30" id="30"/>
            <p:cNvSpPr txBox="true"/>
            <p:nvPr/>
          </p:nvSpPr>
          <p:spPr>
            <a:xfrm>
              <a:off x="0" y="-47625"/>
              <a:ext cx="404418" cy="404185"/>
            </a:xfrm>
            <a:prstGeom prst="rect">
              <a:avLst/>
            </a:prstGeom>
          </p:spPr>
          <p:txBody>
            <a:bodyPr anchor="ctr" rtlCol="false" tIns="50800" lIns="50800" bIns="50800" rIns="50800"/>
            <a:lstStyle/>
            <a:p>
              <a:pPr algn="ctr">
                <a:lnSpc>
                  <a:spcPts val="3716"/>
                </a:lnSpc>
              </a:pPr>
              <a:r>
                <a:rPr lang="en-US" b="true" sz="2693" spc="263">
                  <a:solidFill>
                    <a:srgbClr val="000000"/>
                  </a:solidFill>
                  <a:latin typeface="DM Sans Bold"/>
                  <a:ea typeface="DM Sans Bold"/>
                  <a:cs typeface="DM Sans Bold"/>
                  <a:sym typeface="DM Sans Bold"/>
                </a:rPr>
                <a:t>Cardiología</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0C5FF"/>
        </a:solidFill>
      </p:bgPr>
    </p:bg>
    <p:spTree>
      <p:nvGrpSpPr>
        <p:cNvPr id="1" name=""/>
        <p:cNvGrpSpPr/>
        <p:nvPr/>
      </p:nvGrpSpPr>
      <p:grpSpPr>
        <a:xfrm>
          <a:off x="0" y="0"/>
          <a:ext cx="0" cy="0"/>
          <a:chOff x="0" y="0"/>
          <a:chExt cx="0" cy="0"/>
        </a:xfrm>
      </p:grpSpPr>
      <p:grpSp>
        <p:nvGrpSpPr>
          <p:cNvPr name="Group 2" id="2"/>
          <p:cNvGrpSpPr/>
          <p:nvPr/>
        </p:nvGrpSpPr>
        <p:grpSpPr>
          <a:xfrm rot="0">
            <a:off x="12061028" y="-6319934"/>
            <a:ext cx="14697268" cy="1469726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418"/>
                </a:lnSpc>
              </a:pPr>
            </a:p>
          </p:txBody>
        </p:sp>
      </p:grpSp>
      <p:grpSp>
        <p:nvGrpSpPr>
          <p:cNvPr name="Group 5" id="5"/>
          <p:cNvGrpSpPr/>
          <p:nvPr/>
        </p:nvGrpSpPr>
        <p:grpSpPr>
          <a:xfrm rot="0">
            <a:off x="-5216555" y="-2251304"/>
            <a:ext cx="14697268" cy="1469726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418"/>
                </a:lnSpc>
              </a:pPr>
            </a:p>
          </p:txBody>
        </p:sp>
      </p:grpSp>
      <p:sp>
        <p:nvSpPr>
          <p:cNvPr name="Freeform 8" id="8"/>
          <p:cNvSpPr/>
          <p:nvPr/>
        </p:nvSpPr>
        <p:spPr>
          <a:xfrm flipH="false" flipV="false" rot="0">
            <a:off x="4687908" y="334903"/>
            <a:ext cx="3898742" cy="9617195"/>
          </a:xfrm>
          <a:custGeom>
            <a:avLst/>
            <a:gdLst/>
            <a:ahLst/>
            <a:cxnLst/>
            <a:rect r="r" b="b" t="t" l="l"/>
            <a:pathLst>
              <a:path h="9617195" w="3898742">
                <a:moveTo>
                  <a:pt x="0" y="0"/>
                </a:moveTo>
                <a:lnTo>
                  <a:pt x="3898742" y="0"/>
                </a:lnTo>
                <a:lnTo>
                  <a:pt x="3898742" y="9617194"/>
                </a:lnTo>
                <a:lnTo>
                  <a:pt x="0" y="9617194"/>
                </a:lnTo>
                <a:lnTo>
                  <a:pt x="0" y="0"/>
                </a:lnTo>
                <a:close/>
              </a:path>
            </a:pathLst>
          </a:custGeom>
          <a:blipFill>
            <a:blip r:embed="rId2"/>
            <a:stretch>
              <a:fillRect l="0" t="0" r="-725" b="0"/>
            </a:stretch>
          </a:blipFill>
        </p:spPr>
      </p:sp>
      <p:sp>
        <p:nvSpPr>
          <p:cNvPr name="TextBox 9" id="9"/>
          <p:cNvSpPr txBox="true"/>
          <p:nvPr/>
        </p:nvSpPr>
        <p:spPr>
          <a:xfrm rot="0">
            <a:off x="10585474" y="4297363"/>
            <a:ext cx="5267750" cy="1454149"/>
          </a:xfrm>
          <a:prstGeom prst="rect">
            <a:avLst/>
          </a:prstGeom>
        </p:spPr>
        <p:txBody>
          <a:bodyPr anchor="t" rtlCol="false" tIns="0" lIns="0" bIns="0" rIns="0">
            <a:spAutoFit/>
          </a:bodyPr>
          <a:lstStyle/>
          <a:p>
            <a:pPr algn="l" marL="0" indent="0" lvl="0">
              <a:lnSpc>
                <a:spcPts val="11200"/>
              </a:lnSpc>
              <a:spcBef>
                <a:spcPct val="0"/>
              </a:spcBef>
            </a:pPr>
            <a:r>
              <a:rPr lang="en-US" b="true" sz="8000">
                <a:solidFill>
                  <a:srgbClr val="05066D"/>
                </a:solidFill>
                <a:latin typeface="Poppins Bold"/>
                <a:ea typeface="Poppins Bold"/>
                <a:cs typeface="Poppins Bold"/>
                <a:sym typeface="Poppins Bold"/>
              </a:rPr>
              <a:t>Pro</a:t>
            </a:r>
            <a:r>
              <a:rPr lang="en-US" b="true" sz="8000" u="none">
                <a:solidFill>
                  <a:srgbClr val="05066D"/>
                </a:solidFill>
                <a:latin typeface="Poppins Bold"/>
                <a:ea typeface="Poppins Bold"/>
                <a:cs typeface="Poppins Bold"/>
                <a:sym typeface="Poppins Bold"/>
              </a:rPr>
              <a:t>totipo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0C5FF"/>
        </a:solidFill>
      </p:bgPr>
    </p:bg>
    <p:spTree>
      <p:nvGrpSpPr>
        <p:cNvPr id="1" name=""/>
        <p:cNvGrpSpPr/>
        <p:nvPr/>
      </p:nvGrpSpPr>
      <p:grpSpPr>
        <a:xfrm>
          <a:off x="0" y="0"/>
          <a:ext cx="0" cy="0"/>
          <a:chOff x="0" y="0"/>
          <a:chExt cx="0" cy="0"/>
        </a:xfrm>
      </p:grpSpPr>
      <p:sp>
        <p:nvSpPr>
          <p:cNvPr name="Freeform 2" id="2"/>
          <p:cNvSpPr/>
          <p:nvPr/>
        </p:nvSpPr>
        <p:spPr>
          <a:xfrm flipH="false" flipV="false" rot="-3634062">
            <a:off x="21644529" y="-5615746"/>
            <a:ext cx="10793046" cy="15539726"/>
          </a:xfrm>
          <a:custGeom>
            <a:avLst/>
            <a:gdLst/>
            <a:ahLst/>
            <a:cxnLst/>
            <a:rect r="r" b="b" t="t" l="l"/>
            <a:pathLst>
              <a:path h="15539726" w="10793046">
                <a:moveTo>
                  <a:pt x="0" y="0"/>
                </a:moveTo>
                <a:lnTo>
                  <a:pt x="10793046" y="0"/>
                </a:lnTo>
                <a:lnTo>
                  <a:pt x="10793046" y="15539726"/>
                </a:lnTo>
                <a:lnTo>
                  <a:pt x="0" y="15539726"/>
                </a:lnTo>
                <a:lnTo>
                  <a:pt x="0" y="0"/>
                </a:lnTo>
                <a:close/>
              </a:path>
            </a:pathLst>
          </a:custGeom>
          <a:blipFill>
            <a:blip r:embed="rId2">
              <a:alphaModFix amt="8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574011">
            <a:off x="-797154" y="7044140"/>
            <a:ext cx="5318158" cy="7256156"/>
          </a:xfrm>
          <a:custGeom>
            <a:avLst/>
            <a:gdLst/>
            <a:ahLst/>
            <a:cxnLst/>
            <a:rect r="r" b="b" t="t" l="l"/>
            <a:pathLst>
              <a:path h="7256156" w="5318158">
                <a:moveTo>
                  <a:pt x="0" y="0"/>
                </a:moveTo>
                <a:lnTo>
                  <a:pt x="5318158" y="0"/>
                </a:lnTo>
                <a:lnTo>
                  <a:pt x="5318158" y="7256156"/>
                </a:lnTo>
                <a:lnTo>
                  <a:pt x="0" y="72561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0" y="2638428"/>
            <a:ext cx="14694511" cy="4333869"/>
          </a:xfrm>
          <a:prstGeom prst="rect">
            <a:avLst/>
          </a:prstGeom>
        </p:spPr>
        <p:txBody>
          <a:bodyPr anchor="t" rtlCol="false" tIns="0" lIns="0" bIns="0" rIns="0">
            <a:spAutoFit/>
          </a:bodyPr>
          <a:lstStyle/>
          <a:p>
            <a:pPr algn="l" marL="0" indent="0" lvl="0">
              <a:lnSpc>
                <a:spcPts val="33600"/>
              </a:lnSpc>
              <a:spcBef>
                <a:spcPct val="0"/>
              </a:spcBef>
            </a:pPr>
            <a:r>
              <a:rPr lang="en-US" b="true" sz="24000">
                <a:solidFill>
                  <a:srgbClr val="FFFFFF"/>
                </a:solidFill>
                <a:latin typeface="Poppins Bold"/>
                <a:ea typeface="Poppins Bold"/>
                <a:cs typeface="Poppins Bold"/>
                <a:sym typeface="Poppins Bold"/>
              </a:rPr>
              <a:t>GRACIAS</a:t>
            </a:r>
          </a:p>
        </p:txBody>
      </p:sp>
      <p:sp>
        <p:nvSpPr>
          <p:cNvPr name="Freeform 5" id="5"/>
          <p:cNvSpPr/>
          <p:nvPr/>
        </p:nvSpPr>
        <p:spPr>
          <a:xfrm flipH="false" flipV="false" rot="0">
            <a:off x="6205516" y="-2647963"/>
            <a:ext cx="16218559" cy="6663125"/>
          </a:xfrm>
          <a:custGeom>
            <a:avLst/>
            <a:gdLst/>
            <a:ahLst/>
            <a:cxnLst/>
            <a:rect r="r" b="b" t="t" l="l"/>
            <a:pathLst>
              <a:path h="6663125" w="16218559">
                <a:moveTo>
                  <a:pt x="0" y="0"/>
                </a:moveTo>
                <a:lnTo>
                  <a:pt x="16218559" y="0"/>
                </a:lnTo>
                <a:lnTo>
                  <a:pt x="16218559" y="6663124"/>
                </a:lnTo>
                <a:lnTo>
                  <a:pt x="0" y="6663124"/>
                </a:lnTo>
                <a:lnTo>
                  <a:pt x="0" y="0"/>
                </a:lnTo>
                <a:close/>
              </a:path>
            </a:pathLst>
          </a:custGeom>
          <a:blipFill>
            <a:blip r:embed="rId6">
              <a:alphaModFix amt="43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102868" y="-58576"/>
            <a:ext cx="5498560" cy="12602029"/>
          </a:xfrm>
          <a:custGeom>
            <a:avLst/>
            <a:gdLst/>
            <a:ahLst/>
            <a:cxnLst/>
            <a:rect r="r" b="b" t="t" l="l"/>
            <a:pathLst>
              <a:path h="12602029" w="5498560">
                <a:moveTo>
                  <a:pt x="0" y="0"/>
                </a:moveTo>
                <a:lnTo>
                  <a:pt x="5498560" y="0"/>
                </a:lnTo>
                <a:lnTo>
                  <a:pt x="5498560" y="12602029"/>
                </a:lnTo>
                <a:lnTo>
                  <a:pt x="0" y="12602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574011">
            <a:off x="5469149" y="-6276041"/>
            <a:ext cx="5318158" cy="7256156"/>
          </a:xfrm>
          <a:custGeom>
            <a:avLst/>
            <a:gdLst/>
            <a:ahLst/>
            <a:cxnLst/>
            <a:rect r="r" b="b" t="t" l="l"/>
            <a:pathLst>
              <a:path h="7256156" w="5318158">
                <a:moveTo>
                  <a:pt x="0" y="0"/>
                </a:moveTo>
                <a:lnTo>
                  <a:pt x="5318158" y="0"/>
                </a:lnTo>
                <a:lnTo>
                  <a:pt x="5318158" y="7256156"/>
                </a:lnTo>
                <a:lnTo>
                  <a:pt x="0" y="72561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DAHWq2JwmCo</dc:identifier>
  <dcterms:modified xsi:type="dcterms:W3CDTF">2011-08-01T06:04:30Z</dcterms:modified>
  <cp:revision>1</cp:revision>
  <dc:title>presentación medicina y salud ilustrativo creativo celeste</dc:title>
</cp:coreProperties>
</file>